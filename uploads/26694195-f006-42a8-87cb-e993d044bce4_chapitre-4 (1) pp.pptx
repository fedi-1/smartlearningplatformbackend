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4359" y="2148839"/>
            <a:ext cx="2133600" cy="4445"/>
          </a:xfrm>
          <a:custGeom>
            <a:avLst/>
            <a:gdLst/>
            <a:ahLst/>
            <a:cxnLst/>
            <a:rect l="l" t="t" r="r" b="b"/>
            <a:pathLst>
              <a:path w="2133600" h="4444">
                <a:moveTo>
                  <a:pt x="0" y="0"/>
                </a:moveTo>
                <a:lnTo>
                  <a:pt x="2133600" y="3937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70851" y="5368036"/>
            <a:ext cx="1988820" cy="1491615"/>
          </a:xfrm>
          <a:custGeom>
            <a:avLst/>
            <a:gdLst/>
            <a:ahLst/>
            <a:cxnLst/>
            <a:rect l="l" t="t" r="r" b="b"/>
            <a:pathLst>
              <a:path w="1988820" h="1491615">
                <a:moveTo>
                  <a:pt x="497522" y="0"/>
                </a:moveTo>
                <a:lnTo>
                  <a:pt x="0" y="497687"/>
                </a:lnTo>
                <a:lnTo>
                  <a:pt x="993330" y="1491321"/>
                </a:lnTo>
                <a:lnTo>
                  <a:pt x="1988375" y="1491321"/>
                </a:lnTo>
                <a:lnTo>
                  <a:pt x="497522" y="0"/>
                </a:lnTo>
                <a:close/>
              </a:path>
            </a:pathLst>
          </a:custGeom>
          <a:solidFill>
            <a:srgbClr val="F8D3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3" y="5891568"/>
            <a:ext cx="967740" cy="968375"/>
          </a:xfrm>
          <a:custGeom>
            <a:avLst/>
            <a:gdLst/>
            <a:ahLst/>
            <a:cxnLst/>
            <a:rect l="l" t="t" r="r" b="b"/>
            <a:pathLst>
              <a:path w="967740" h="968375">
                <a:moveTo>
                  <a:pt x="0" y="0"/>
                </a:moveTo>
                <a:lnTo>
                  <a:pt x="0" y="967789"/>
                </a:lnTo>
                <a:lnTo>
                  <a:pt x="967515" y="967789"/>
                </a:lnTo>
                <a:lnTo>
                  <a:pt x="0" y="0"/>
                </a:lnTo>
                <a:close/>
              </a:path>
            </a:pathLst>
          </a:custGeom>
          <a:solidFill>
            <a:srgbClr val="7BA6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33" y="3900170"/>
            <a:ext cx="970280" cy="1941830"/>
          </a:xfrm>
          <a:custGeom>
            <a:avLst/>
            <a:gdLst/>
            <a:ahLst/>
            <a:cxnLst/>
            <a:rect l="l" t="t" r="r" b="b"/>
            <a:pathLst>
              <a:path w="970280" h="1941829">
                <a:moveTo>
                  <a:pt x="0" y="0"/>
                </a:moveTo>
                <a:lnTo>
                  <a:pt x="0" y="1941385"/>
                </a:lnTo>
                <a:lnTo>
                  <a:pt x="970018" y="970279"/>
                </a:lnTo>
                <a:lnTo>
                  <a:pt x="0" y="0"/>
                </a:lnTo>
                <a:close/>
              </a:path>
            </a:pathLst>
          </a:custGeom>
          <a:solidFill>
            <a:srgbClr val="4494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659" y="546862"/>
            <a:ext cx="10614025" cy="1233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0747" y="2633598"/>
            <a:ext cx="9890505" cy="3592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6259" y="6328178"/>
            <a:ext cx="257175" cy="184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758698"/>
            <a:ext cx="6099810" cy="6097905"/>
            <a:chOff x="0" y="758698"/>
            <a:chExt cx="6099810" cy="6097905"/>
          </a:xfrm>
        </p:grpSpPr>
        <p:sp>
          <p:nvSpPr>
            <p:cNvPr id="3" name="object 3" descr=""/>
            <p:cNvSpPr/>
            <p:nvPr/>
          </p:nvSpPr>
          <p:spPr>
            <a:xfrm>
              <a:off x="0" y="758698"/>
              <a:ext cx="3074035" cy="4098290"/>
            </a:xfrm>
            <a:custGeom>
              <a:avLst/>
              <a:gdLst/>
              <a:ahLst/>
              <a:cxnLst/>
              <a:rect l="l" t="t" r="r" b="b"/>
              <a:pathLst>
                <a:path w="3074035" h="4098290">
                  <a:moveTo>
                    <a:pt x="0" y="0"/>
                  </a:moveTo>
                  <a:lnTo>
                    <a:pt x="0" y="2050923"/>
                  </a:lnTo>
                  <a:lnTo>
                    <a:pt x="2048001" y="4098290"/>
                  </a:lnTo>
                  <a:lnTo>
                    <a:pt x="3073653" y="3072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4862068"/>
              <a:ext cx="1995170" cy="1994535"/>
            </a:xfrm>
            <a:custGeom>
              <a:avLst/>
              <a:gdLst/>
              <a:ahLst/>
              <a:cxnLst/>
              <a:rect l="l" t="t" r="r" b="b"/>
              <a:pathLst>
                <a:path w="1995170" h="1994534">
                  <a:moveTo>
                    <a:pt x="0" y="0"/>
                  </a:moveTo>
                  <a:lnTo>
                    <a:pt x="0" y="1994213"/>
                  </a:lnTo>
                  <a:lnTo>
                    <a:pt x="1994661" y="19942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97785" y="4856988"/>
              <a:ext cx="4001770" cy="1999614"/>
            </a:xfrm>
            <a:custGeom>
              <a:avLst/>
              <a:gdLst/>
              <a:ahLst/>
              <a:cxnLst/>
              <a:rect l="l" t="t" r="r" b="b"/>
              <a:pathLst>
                <a:path w="4001770" h="1999615">
                  <a:moveTo>
                    <a:pt x="2001647" y="0"/>
                  </a:moveTo>
                  <a:lnTo>
                    <a:pt x="0" y="1999294"/>
                  </a:lnTo>
                  <a:lnTo>
                    <a:pt x="4001516" y="1999294"/>
                  </a:lnTo>
                  <a:lnTo>
                    <a:pt x="2001647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6309359" y="3950208"/>
            <a:ext cx="2133600" cy="4445"/>
          </a:xfrm>
          <a:custGeom>
            <a:avLst/>
            <a:gdLst/>
            <a:ahLst/>
            <a:cxnLst/>
            <a:rect l="l" t="t" r="r" b="b"/>
            <a:pathLst>
              <a:path w="2133600" h="4445">
                <a:moveTo>
                  <a:pt x="0" y="0"/>
                </a:moveTo>
                <a:lnTo>
                  <a:pt x="2133599" y="3937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49777" y="1867611"/>
            <a:ext cx="6699884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/>
              <a:t>Méthodologie</a:t>
            </a:r>
            <a:r>
              <a:rPr dirty="0" sz="4000" spc="-180"/>
              <a:t> </a:t>
            </a:r>
            <a:r>
              <a:rPr dirty="0" sz="4000"/>
              <a:t>de</a:t>
            </a:r>
            <a:r>
              <a:rPr dirty="0" sz="4000" spc="-195"/>
              <a:t> </a:t>
            </a:r>
            <a:r>
              <a:rPr dirty="0" sz="4000" spc="-75"/>
              <a:t>conception</a:t>
            </a:r>
            <a:endParaRPr sz="4000"/>
          </a:p>
        </p:txBody>
      </p:sp>
      <p:sp>
        <p:nvSpPr>
          <p:cNvPr id="8" name="object 8" descr=""/>
          <p:cNvSpPr txBox="1"/>
          <p:nvPr/>
        </p:nvSpPr>
        <p:spPr>
          <a:xfrm>
            <a:off x="2943225" y="34874"/>
            <a:ext cx="37763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 b="1">
                <a:solidFill>
                  <a:srgbClr val="001F5F"/>
                </a:solidFill>
                <a:latin typeface="Arial"/>
                <a:cs typeface="Arial"/>
              </a:rPr>
              <a:t>Institut</a:t>
            </a:r>
            <a:r>
              <a:rPr dirty="0" sz="1200" spc="-1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1200" spc="-65" b="1">
                <a:solidFill>
                  <a:srgbClr val="001F5F"/>
                </a:solidFill>
                <a:latin typeface="Arial"/>
                <a:cs typeface="Arial"/>
              </a:rPr>
              <a:t>Supérieur</a:t>
            </a:r>
            <a:r>
              <a:rPr dirty="0" sz="1200" spc="-1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1200" spc="-80" b="1">
                <a:solidFill>
                  <a:srgbClr val="001F5F"/>
                </a:solidFill>
                <a:latin typeface="Arial"/>
                <a:cs typeface="Arial"/>
              </a:rPr>
              <a:t>des</a:t>
            </a:r>
            <a:r>
              <a:rPr dirty="0" sz="120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1200" spc="-70" b="1">
                <a:solidFill>
                  <a:srgbClr val="001F5F"/>
                </a:solidFill>
                <a:latin typeface="Arial"/>
                <a:cs typeface="Arial"/>
              </a:rPr>
              <a:t>Etudes</a:t>
            </a:r>
            <a:r>
              <a:rPr dirty="0" sz="1200" spc="5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1200" spc="-90" b="1">
                <a:solidFill>
                  <a:srgbClr val="001F5F"/>
                </a:solidFill>
                <a:latin typeface="Arial"/>
                <a:cs typeface="Arial"/>
              </a:rPr>
              <a:t>Technologiques</a:t>
            </a:r>
            <a:r>
              <a:rPr dirty="0" sz="1200" spc="-5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1200" spc="-65" b="1">
                <a:solidFill>
                  <a:srgbClr val="001F5F"/>
                </a:solidFill>
                <a:latin typeface="Arial"/>
                <a:cs typeface="Arial"/>
              </a:rPr>
              <a:t>de</a:t>
            </a:r>
            <a:r>
              <a:rPr dirty="0" sz="1200" b="1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1F5F"/>
                </a:solidFill>
                <a:latin typeface="Arial"/>
                <a:cs typeface="Arial"/>
              </a:rPr>
              <a:t>Mahdia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490" y="13207"/>
            <a:ext cx="781050" cy="923925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549777" y="2878582"/>
            <a:ext cx="6605905" cy="240919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 marR="5389880">
              <a:lnSpc>
                <a:spcPts val="2880"/>
              </a:lnSpc>
              <a:spcBef>
                <a:spcPts val="795"/>
              </a:spcBef>
            </a:pPr>
            <a:r>
              <a:rPr dirty="0" sz="3000" spc="-10" b="1">
                <a:latin typeface="Arial"/>
                <a:cs typeface="Arial"/>
              </a:rPr>
              <a:t>DSI3.1 DSI3.2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3000">
              <a:latin typeface="Arial"/>
              <a:cs typeface="Arial"/>
            </a:endParaRPr>
          </a:p>
          <a:p>
            <a:pPr marL="2912745">
              <a:lnSpc>
                <a:spcPct val="100000"/>
              </a:lnSpc>
            </a:pPr>
            <a:r>
              <a:rPr dirty="0" sz="3800" b="1">
                <a:solidFill>
                  <a:srgbClr val="006FC0"/>
                </a:solidFill>
                <a:latin typeface="Trebuchet MS"/>
                <a:cs typeface="Trebuchet MS"/>
              </a:rPr>
              <a:t>Processus</a:t>
            </a:r>
            <a:r>
              <a:rPr dirty="0" sz="3800" spc="-155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3800" spc="-10" b="1">
                <a:solidFill>
                  <a:srgbClr val="006FC0"/>
                </a:solidFill>
                <a:latin typeface="Trebuchet MS"/>
                <a:cs typeface="Trebuchet MS"/>
              </a:rPr>
              <a:t>Unifié</a:t>
            </a:r>
            <a:endParaRPr sz="380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328536" y="6676859"/>
            <a:ext cx="5266055" cy="160655"/>
            <a:chOff x="6328536" y="6676859"/>
            <a:chExt cx="5266055" cy="16065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8536" y="6676859"/>
              <a:ext cx="4671821" cy="16006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1010011" y="6677088"/>
              <a:ext cx="584200" cy="160020"/>
            </a:xfrm>
            <a:custGeom>
              <a:avLst/>
              <a:gdLst/>
              <a:ahLst/>
              <a:cxnLst/>
              <a:rect l="l" t="t" r="r" b="b"/>
              <a:pathLst>
                <a:path w="584200" h="160020">
                  <a:moveTo>
                    <a:pt x="54127" y="89636"/>
                  </a:moveTo>
                  <a:lnTo>
                    <a:pt x="0" y="89636"/>
                  </a:lnTo>
                  <a:lnTo>
                    <a:pt x="0" y="107492"/>
                  </a:lnTo>
                  <a:lnTo>
                    <a:pt x="54127" y="107492"/>
                  </a:lnTo>
                  <a:lnTo>
                    <a:pt x="54127" y="89636"/>
                  </a:lnTo>
                  <a:close/>
                </a:path>
                <a:path w="584200" h="160020">
                  <a:moveTo>
                    <a:pt x="176911" y="136855"/>
                  </a:moveTo>
                  <a:lnTo>
                    <a:pt x="94615" y="136855"/>
                  </a:lnTo>
                  <a:lnTo>
                    <a:pt x="108648" y="128257"/>
                  </a:lnTo>
                  <a:lnTo>
                    <a:pt x="121437" y="119722"/>
                  </a:lnTo>
                  <a:lnTo>
                    <a:pt x="151968" y="94640"/>
                  </a:lnTo>
                  <a:lnTo>
                    <a:pt x="174726" y="60706"/>
                  </a:lnTo>
                  <a:lnTo>
                    <a:pt x="176504" y="47637"/>
                  </a:lnTo>
                  <a:lnTo>
                    <a:pt x="176517" y="47498"/>
                  </a:lnTo>
                  <a:lnTo>
                    <a:pt x="175691" y="39090"/>
                  </a:lnTo>
                  <a:lnTo>
                    <a:pt x="175577" y="37858"/>
                  </a:lnTo>
                  <a:lnTo>
                    <a:pt x="172720" y="29070"/>
                  </a:lnTo>
                  <a:lnTo>
                    <a:pt x="167957" y="21043"/>
                  </a:lnTo>
                  <a:lnTo>
                    <a:pt x="166268" y="19202"/>
                  </a:lnTo>
                  <a:lnTo>
                    <a:pt x="161290" y="13766"/>
                  </a:lnTo>
                  <a:lnTo>
                    <a:pt x="153187" y="7747"/>
                  </a:lnTo>
                  <a:lnTo>
                    <a:pt x="143967" y="3441"/>
                  </a:lnTo>
                  <a:lnTo>
                    <a:pt x="133616" y="863"/>
                  </a:lnTo>
                  <a:lnTo>
                    <a:pt x="122174" y="0"/>
                  </a:lnTo>
                  <a:lnTo>
                    <a:pt x="102019" y="2984"/>
                  </a:lnTo>
                  <a:lnTo>
                    <a:pt x="85991" y="11912"/>
                  </a:lnTo>
                  <a:lnTo>
                    <a:pt x="74066" y="26797"/>
                  </a:lnTo>
                  <a:lnTo>
                    <a:pt x="66344" y="47498"/>
                  </a:lnTo>
                  <a:lnTo>
                    <a:pt x="66294" y="47637"/>
                  </a:lnTo>
                  <a:lnTo>
                    <a:pt x="88011" y="53581"/>
                  </a:lnTo>
                  <a:lnTo>
                    <a:pt x="89293" y="45605"/>
                  </a:lnTo>
                  <a:lnTo>
                    <a:pt x="91605" y="38658"/>
                  </a:lnTo>
                  <a:lnTo>
                    <a:pt x="94957" y="32753"/>
                  </a:lnTo>
                  <a:lnTo>
                    <a:pt x="99314" y="27876"/>
                  </a:lnTo>
                  <a:lnTo>
                    <a:pt x="105918" y="22098"/>
                  </a:lnTo>
                  <a:lnTo>
                    <a:pt x="113411" y="19202"/>
                  </a:lnTo>
                  <a:lnTo>
                    <a:pt x="130175" y="19202"/>
                  </a:lnTo>
                  <a:lnTo>
                    <a:pt x="137414" y="21818"/>
                  </a:lnTo>
                  <a:lnTo>
                    <a:pt x="150114" y="32283"/>
                  </a:lnTo>
                  <a:lnTo>
                    <a:pt x="153289" y="39090"/>
                  </a:lnTo>
                  <a:lnTo>
                    <a:pt x="153263" y="47637"/>
                  </a:lnTo>
                  <a:lnTo>
                    <a:pt x="132397" y="85204"/>
                  </a:lnTo>
                  <a:lnTo>
                    <a:pt x="94792" y="116243"/>
                  </a:lnTo>
                  <a:lnTo>
                    <a:pt x="66294" y="137960"/>
                  </a:lnTo>
                  <a:lnTo>
                    <a:pt x="66294" y="156832"/>
                  </a:lnTo>
                  <a:lnTo>
                    <a:pt x="176911" y="156832"/>
                  </a:lnTo>
                  <a:lnTo>
                    <a:pt x="176911" y="136855"/>
                  </a:lnTo>
                  <a:close/>
                </a:path>
                <a:path w="584200" h="160020">
                  <a:moveTo>
                    <a:pt x="317373" y="80581"/>
                  </a:moveTo>
                  <a:lnTo>
                    <a:pt x="308940" y="36969"/>
                  </a:lnTo>
                  <a:lnTo>
                    <a:pt x="298183" y="18973"/>
                  </a:lnTo>
                  <a:lnTo>
                    <a:pt x="293954" y="13652"/>
                  </a:lnTo>
                  <a:lnTo>
                    <a:pt x="293497" y="13322"/>
                  </a:lnTo>
                  <a:lnTo>
                    <a:pt x="293497" y="82715"/>
                  </a:lnTo>
                  <a:lnTo>
                    <a:pt x="293039" y="92646"/>
                  </a:lnTo>
                  <a:lnTo>
                    <a:pt x="292950" y="94818"/>
                  </a:lnTo>
                  <a:lnTo>
                    <a:pt x="291312" y="105791"/>
                  </a:lnTo>
                  <a:lnTo>
                    <a:pt x="288734" y="115189"/>
                  </a:lnTo>
                  <a:lnTo>
                    <a:pt x="288620" y="115633"/>
                  </a:lnTo>
                  <a:lnTo>
                    <a:pt x="284924" y="124180"/>
                  </a:lnTo>
                  <a:lnTo>
                    <a:pt x="284861" y="124345"/>
                  </a:lnTo>
                  <a:lnTo>
                    <a:pt x="279920" y="131483"/>
                  </a:lnTo>
                  <a:lnTo>
                    <a:pt x="273900" y="136575"/>
                  </a:lnTo>
                  <a:lnTo>
                    <a:pt x="266776" y="139623"/>
                  </a:lnTo>
                  <a:lnTo>
                    <a:pt x="258572" y="140652"/>
                  </a:lnTo>
                  <a:lnTo>
                    <a:pt x="250558" y="139623"/>
                  </a:lnTo>
                  <a:lnTo>
                    <a:pt x="232270" y="124345"/>
                  </a:lnTo>
                  <a:lnTo>
                    <a:pt x="232156" y="124180"/>
                  </a:lnTo>
                  <a:lnTo>
                    <a:pt x="223151" y="82715"/>
                  </a:lnTo>
                  <a:lnTo>
                    <a:pt x="223037" y="79705"/>
                  </a:lnTo>
                  <a:lnTo>
                    <a:pt x="223012" y="79108"/>
                  </a:lnTo>
                  <a:lnTo>
                    <a:pt x="223558" y="66065"/>
                  </a:lnTo>
                  <a:lnTo>
                    <a:pt x="225196" y="54419"/>
                  </a:lnTo>
                  <a:lnTo>
                    <a:pt x="227939" y="44157"/>
                  </a:lnTo>
                  <a:lnTo>
                    <a:pt x="231711" y="35445"/>
                  </a:lnTo>
                  <a:lnTo>
                    <a:pt x="231775" y="35293"/>
                  </a:lnTo>
                  <a:lnTo>
                    <a:pt x="236601" y="28168"/>
                  </a:lnTo>
                  <a:lnTo>
                    <a:pt x="242531" y="23063"/>
                  </a:lnTo>
                  <a:lnTo>
                    <a:pt x="249326" y="20104"/>
                  </a:lnTo>
                  <a:lnTo>
                    <a:pt x="248742" y="20104"/>
                  </a:lnTo>
                  <a:lnTo>
                    <a:pt x="257683" y="18973"/>
                  </a:lnTo>
                  <a:lnTo>
                    <a:pt x="266128" y="20104"/>
                  </a:lnTo>
                  <a:lnTo>
                    <a:pt x="273418" y="23482"/>
                  </a:lnTo>
                  <a:lnTo>
                    <a:pt x="291236" y="57404"/>
                  </a:lnTo>
                  <a:lnTo>
                    <a:pt x="293331" y="79108"/>
                  </a:lnTo>
                  <a:lnTo>
                    <a:pt x="293395" y="80581"/>
                  </a:lnTo>
                  <a:lnTo>
                    <a:pt x="293497" y="82715"/>
                  </a:lnTo>
                  <a:lnTo>
                    <a:pt x="293497" y="13322"/>
                  </a:lnTo>
                  <a:lnTo>
                    <a:pt x="283730" y="6070"/>
                  </a:lnTo>
                  <a:lnTo>
                    <a:pt x="271716" y="1524"/>
                  </a:lnTo>
                  <a:lnTo>
                    <a:pt x="257937" y="0"/>
                  </a:lnTo>
                  <a:lnTo>
                    <a:pt x="244132" y="1524"/>
                  </a:lnTo>
                  <a:lnTo>
                    <a:pt x="244538" y="1524"/>
                  </a:lnTo>
                  <a:lnTo>
                    <a:pt x="233083" y="5803"/>
                  </a:lnTo>
                  <a:lnTo>
                    <a:pt x="208102" y="35293"/>
                  </a:lnTo>
                  <a:lnTo>
                    <a:pt x="199542" y="79108"/>
                  </a:lnTo>
                  <a:lnTo>
                    <a:pt x="199567" y="80581"/>
                  </a:lnTo>
                  <a:lnTo>
                    <a:pt x="200444" y="94818"/>
                  </a:lnTo>
                  <a:lnTo>
                    <a:pt x="200507" y="95973"/>
                  </a:lnTo>
                  <a:lnTo>
                    <a:pt x="215430" y="136575"/>
                  </a:lnTo>
                  <a:lnTo>
                    <a:pt x="258445" y="159842"/>
                  </a:lnTo>
                  <a:lnTo>
                    <a:pt x="271221" y="158407"/>
                  </a:lnTo>
                  <a:lnTo>
                    <a:pt x="271526" y="158407"/>
                  </a:lnTo>
                  <a:lnTo>
                    <a:pt x="283298" y="153873"/>
                  </a:lnTo>
                  <a:lnTo>
                    <a:pt x="293370" y="146405"/>
                  </a:lnTo>
                  <a:lnTo>
                    <a:pt x="298043" y="140652"/>
                  </a:lnTo>
                  <a:lnTo>
                    <a:pt x="301879" y="135940"/>
                  </a:lnTo>
                  <a:lnTo>
                    <a:pt x="308635" y="123520"/>
                  </a:lnTo>
                  <a:lnTo>
                    <a:pt x="313474" y="110147"/>
                  </a:lnTo>
                  <a:lnTo>
                    <a:pt x="316357" y="95973"/>
                  </a:lnTo>
                  <a:lnTo>
                    <a:pt x="316458" y="94818"/>
                  </a:lnTo>
                  <a:lnTo>
                    <a:pt x="317373" y="80581"/>
                  </a:lnTo>
                  <a:close/>
                </a:path>
                <a:path w="584200" h="160020">
                  <a:moveTo>
                    <a:pt x="446659" y="136855"/>
                  </a:moveTo>
                  <a:lnTo>
                    <a:pt x="364236" y="136855"/>
                  </a:lnTo>
                  <a:lnTo>
                    <a:pt x="378345" y="128257"/>
                  </a:lnTo>
                  <a:lnTo>
                    <a:pt x="391172" y="119722"/>
                  </a:lnTo>
                  <a:lnTo>
                    <a:pt x="421716" y="94640"/>
                  </a:lnTo>
                  <a:lnTo>
                    <a:pt x="444474" y="60706"/>
                  </a:lnTo>
                  <a:lnTo>
                    <a:pt x="446252" y="47637"/>
                  </a:lnTo>
                  <a:lnTo>
                    <a:pt x="446265" y="47498"/>
                  </a:lnTo>
                  <a:lnTo>
                    <a:pt x="445439" y="39090"/>
                  </a:lnTo>
                  <a:lnTo>
                    <a:pt x="445325" y="37858"/>
                  </a:lnTo>
                  <a:lnTo>
                    <a:pt x="442468" y="29070"/>
                  </a:lnTo>
                  <a:lnTo>
                    <a:pt x="437705" y="21043"/>
                  </a:lnTo>
                  <a:lnTo>
                    <a:pt x="436016" y="19202"/>
                  </a:lnTo>
                  <a:lnTo>
                    <a:pt x="431038" y="13766"/>
                  </a:lnTo>
                  <a:lnTo>
                    <a:pt x="422935" y="7747"/>
                  </a:lnTo>
                  <a:lnTo>
                    <a:pt x="413715" y="3441"/>
                  </a:lnTo>
                  <a:lnTo>
                    <a:pt x="403364" y="863"/>
                  </a:lnTo>
                  <a:lnTo>
                    <a:pt x="391922" y="0"/>
                  </a:lnTo>
                  <a:lnTo>
                    <a:pt x="371767" y="2984"/>
                  </a:lnTo>
                  <a:lnTo>
                    <a:pt x="355739" y="11912"/>
                  </a:lnTo>
                  <a:lnTo>
                    <a:pt x="343814" y="26797"/>
                  </a:lnTo>
                  <a:lnTo>
                    <a:pt x="336092" y="47498"/>
                  </a:lnTo>
                  <a:lnTo>
                    <a:pt x="336042" y="47637"/>
                  </a:lnTo>
                  <a:lnTo>
                    <a:pt x="357759" y="53581"/>
                  </a:lnTo>
                  <a:lnTo>
                    <a:pt x="359041" y="45605"/>
                  </a:lnTo>
                  <a:lnTo>
                    <a:pt x="361353" y="38658"/>
                  </a:lnTo>
                  <a:lnTo>
                    <a:pt x="364705" y="32753"/>
                  </a:lnTo>
                  <a:lnTo>
                    <a:pt x="369062" y="27876"/>
                  </a:lnTo>
                  <a:lnTo>
                    <a:pt x="375666" y="22098"/>
                  </a:lnTo>
                  <a:lnTo>
                    <a:pt x="383159" y="19202"/>
                  </a:lnTo>
                  <a:lnTo>
                    <a:pt x="399923" y="19202"/>
                  </a:lnTo>
                  <a:lnTo>
                    <a:pt x="407162" y="21818"/>
                  </a:lnTo>
                  <a:lnTo>
                    <a:pt x="419862" y="32283"/>
                  </a:lnTo>
                  <a:lnTo>
                    <a:pt x="423037" y="39090"/>
                  </a:lnTo>
                  <a:lnTo>
                    <a:pt x="423011" y="47637"/>
                  </a:lnTo>
                  <a:lnTo>
                    <a:pt x="402145" y="85204"/>
                  </a:lnTo>
                  <a:lnTo>
                    <a:pt x="364540" y="116243"/>
                  </a:lnTo>
                  <a:lnTo>
                    <a:pt x="336042" y="137960"/>
                  </a:lnTo>
                  <a:lnTo>
                    <a:pt x="336042" y="156832"/>
                  </a:lnTo>
                  <a:lnTo>
                    <a:pt x="446659" y="156832"/>
                  </a:lnTo>
                  <a:lnTo>
                    <a:pt x="446659" y="136855"/>
                  </a:lnTo>
                  <a:close/>
                </a:path>
                <a:path w="584200" h="160020">
                  <a:moveTo>
                    <a:pt x="584187" y="105270"/>
                  </a:moveTo>
                  <a:lnTo>
                    <a:pt x="583196" y="94005"/>
                  </a:lnTo>
                  <a:lnTo>
                    <a:pt x="580186" y="83781"/>
                  </a:lnTo>
                  <a:lnTo>
                    <a:pt x="575195" y="74599"/>
                  </a:lnTo>
                  <a:lnTo>
                    <a:pt x="572084" y="70993"/>
                  </a:lnTo>
                  <a:lnTo>
                    <a:pt x="569150" y="67589"/>
                  </a:lnTo>
                  <a:lnTo>
                    <a:pt x="568198" y="66471"/>
                  </a:lnTo>
                  <a:lnTo>
                    <a:pt x="559828" y="59804"/>
                  </a:lnTo>
                  <a:lnTo>
                    <a:pt x="550735" y="55041"/>
                  </a:lnTo>
                  <a:lnTo>
                    <a:pt x="541108" y="52260"/>
                  </a:lnTo>
                  <a:lnTo>
                    <a:pt x="541655" y="52260"/>
                  </a:lnTo>
                  <a:lnTo>
                    <a:pt x="530225" y="51231"/>
                  </a:lnTo>
                  <a:lnTo>
                    <a:pt x="520293" y="52260"/>
                  </a:lnTo>
                  <a:lnTo>
                    <a:pt x="511276" y="55321"/>
                  </a:lnTo>
                  <a:lnTo>
                    <a:pt x="503199" y="60439"/>
                  </a:lnTo>
                  <a:lnTo>
                    <a:pt x="496062" y="67589"/>
                  </a:lnTo>
                  <a:lnTo>
                    <a:pt x="499110" y="23545"/>
                  </a:lnTo>
                  <a:lnTo>
                    <a:pt x="572516" y="23545"/>
                  </a:lnTo>
                  <a:lnTo>
                    <a:pt x="574294" y="3009"/>
                  </a:lnTo>
                  <a:lnTo>
                    <a:pt x="481203" y="3009"/>
                  </a:lnTo>
                  <a:lnTo>
                    <a:pt x="476250" y="87820"/>
                  </a:lnTo>
                  <a:lnTo>
                    <a:pt x="494284" y="91427"/>
                  </a:lnTo>
                  <a:lnTo>
                    <a:pt x="501700" y="82486"/>
                  </a:lnTo>
                  <a:lnTo>
                    <a:pt x="509879" y="76098"/>
                  </a:lnTo>
                  <a:lnTo>
                    <a:pt x="518795" y="72275"/>
                  </a:lnTo>
                  <a:lnTo>
                    <a:pt x="528447" y="70993"/>
                  </a:lnTo>
                  <a:lnTo>
                    <a:pt x="537464" y="70993"/>
                  </a:lnTo>
                  <a:lnTo>
                    <a:pt x="561594" y="105270"/>
                  </a:lnTo>
                  <a:lnTo>
                    <a:pt x="560971" y="112674"/>
                  </a:lnTo>
                  <a:lnTo>
                    <a:pt x="532917" y="140030"/>
                  </a:lnTo>
                  <a:lnTo>
                    <a:pt x="524891" y="140652"/>
                  </a:lnTo>
                  <a:lnTo>
                    <a:pt x="513016" y="139014"/>
                  </a:lnTo>
                  <a:lnTo>
                    <a:pt x="503135" y="134124"/>
                  </a:lnTo>
                  <a:lnTo>
                    <a:pt x="495198" y="125958"/>
                  </a:lnTo>
                  <a:lnTo>
                    <a:pt x="489204" y="114528"/>
                  </a:lnTo>
                  <a:lnTo>
                    <a:pt x="469646" y="120840"/>
                  </a:lnTo>
                  <a:lnTo>
                    <a:pt x="497738" y="154076"/>
                  </a:lnTo>
                  <a:lnTo>
                    <a:pt x="524764" y="159842"/>
                  </a:lnTo>
                  <a:lnTo>
                    <a:pt x="536689" y="158889"/>
                  </a:lnTo>
                  <a:lnTo>
                    <a:pt x="570522" y="140652"/>
                  </a:lnTo>
                  <a:lnTo>
                    <a:pt x="583120" y="116713"/>
                  </a:lnTo>
                  <a:lnTo>
                    <a:pt x="584187" y="105270"/>
                  </a:lnTo>
                  <a:close/>
                </a:path>
              </a:pathLst>
            </a:custGeom>
            <a:solidFill>
              <a:srgbClr val="000000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62700" y="0"/>
            <a:ext cx="3883660" cy="3235960"/>
            <a:chOff x="6362700" y="0"/>
            <a:chExt cx="3883660" cy="3235960"/>
          </a:xfrm>
        </p:grpSpPr>
        <p:sp>
          <p:nvSpPr>
            <p:cNvPr id="3" name="object 3" descr=""/>
            <p:cNvSpPr/>
            <p:nvPr/>
          </p:nvSpPr>
          <p:spPr>
            <a:xfrm>
              <a:off x="6362700" y="0"/>
              <a:ext cx="3883660" cy="3235960"/>
            </a:xfrm>
            <a:custGeom>
              <a:avLst/>
              <a:gdLst/>
              <a:ahLst/>
              <a:cxnLst/>
              <a:rect l="l" t="t" r="r" b="b"/>
              <a:pathLst>
                <a:path w="3883659" h="3235960">
                  <a:moveTo>
                    <a:pt x="1296416" y="0"/>
                  </a:moveTo>
                  <a:lnTo>
                    <a:pt x="0" y="0"/>
                  </a:lnTo>
                  <a:lnTo>
                    <a:pt x="1289811" y="1289939"/>
                  </a:lnTo>
                  <a:lnTo>
                    <a:pt x="1939163" y="641730"/>
                  </a:lnTo>
                  <a:lnTo>
                    <a:pt x="1296416" y="0"/>
                  </a:lnTo>
                  <a:close/>
                </a:path>
                <a:path w="3883659" h="3235960">
                  <a:moveTo>
                    <a:pt x="3235452" y="1939163"/>
                  </a:moveTo>
                  <a:lnTo>
                    <a:pt x="2587244" y="2587371"/>
                  </a:lnTo>
                  <a:lnTo>
                    <a:pt x="3235452" y="3235579"/>
                  </a:lnTo>
                  <a:lnTo>
                    <a:pt x="3883659" y="2587371"/>
                  </a:lnTo>
                  <a:lnTo>
                    <a:pt x="3235452" y="1939163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004430" y="1289938"/>
              <a:ext cx="1945639" cy="1945639"/>
            </a:xfrm>
            <a:custGeom>
              <a:avLst/>
              <a:gdLst/>
              <a:ahLst/>
              <a:cxnLst/>
              <a:rect l="l" t="t" r="r" b="b"/>
              <a:pathLst>
                <a:path w="1945640" h="1945639">
                  <a:moveTo>
                    <a:pt x="648080" y="0"/>
                  </a:moveTo>
                  <a:lnTo>
                    <a:pt x="0" y="649224"/>
                  </a:lnTo>
                  <a:lnTo>
                    <a:pt x="1297432" y="1945639"/>
                  </a:lnTo>
                  <a:lnTo>
                    <a:pt x="1945513" y="1297432"/>
                  </a:lnTo>
                  <a:lnTo>
                    <a:pt x="648080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55404" y="0"/>
              <a:ext cx="1284605" cy="641985"/>
            </a:xfrm>
            <a:custGeom>
              <a:avLst/>
              <a:gdLst/>
              <a:ahLst/>
              <a:cxnLst/>
              <a:rect l="l" t="t" r="r" b="b"/>
              <a:pathLst>
                <a:path w="1284604" h="641985">
                  <a:moveTo>
                    <a:pt x="1284477" y="0"/>
                  </a:moveTo>
                  <a:lnTo>
                    <a:pt x="0" y="0"/>
                  </a:lnTo>
                  <a:lnTo>
                    <a:pt x="641730" y="641730"/>
                  </a:lnTo>
                  <a:lnTo>
                    <a:pt x="1284477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52511" y="641730"/>
              <a:ext cx="1945639" cy="1945639"/>
            </a:xfrm>
            <a:custGeom>
              <a:avLst/>
              <a:gdLst/>
              <a:ahLst/>
              <a:cxnLst/>
              <a:rect l="l" t="t" r="r" b="b"/>
              <a:pathLst>
                <a:path w="1945640" h="1945639">
                  <a:moveTo>
                    <a:pt x="649351" y="0"/>
                  </a:moveTo>
                  <a:lnTo>
                    <a:pt x="0" y="648208"/>
                  </a:lnTo>
                  <a:lnTo>
                    <a:pt x="1297432" y="1945640"/>
                  </a:lnTo>
                  <a:lnTo>
                    <a:pt x="1945640" y="1297432"/>
                  </a:lnTo>
                  <a:lnTo>
                    <a:pt x="649351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9598152" y="641730"/>
            <a:ext cx="2593975" cy="2593975"/>
          </a:xfrm>
          <a:custGeom>
            <a:avLst/>
            <a:gdLst/>
            <a:ahLst/>
            <a:cxnLst/>
            <a:rect l="l" t="t" r="r" b="b"/>
            <a:pathLst>
              <a:path w="2593975" h="2593975">
                <a:moveTo>
                  <a:pt x="1296416" y="0"/>
                </a:moveTo>
                <a:lnTo>
                  <a:pt x="0" y="1297432"/>
                </a:lnTo>
                <a:lnTo>
                  <a:pt x="1296416" y="2593848"/>
                </a:lnTo>
                <a:lnTo>
                  <a:pt x="2593848" y="1297432"/>
                </a:lnTo>
                <a:lnTo>
                  <a:pt x="1296416" y="0"/>
                </a:lnTo>
                <a:close/>
              </a:path>
            </a:pathLst>
          </a:custGeom>
          <a:solidFill>
            <a:srgbClr val="F8D3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94359" y="2148839"/>
            <a:ext cx="2131060" cy="0"/>
          </a:xfrm>
          <a:custGeom>
            <a:avLst/>
            <a:gdLst/>
            <a:ahLst/>
            <a:cxnLst/>
            <a:rect l="l" t="t" r="r" b="b"/>
            <a:pathLst>
              <a:path w="2131060" h="0">
                <a:moveTo>
                  <a:pt x="0" y="0"/>
                </a:moveTo>
                <a:lnTo>
                  <a:pt x="2130552" y="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1659" y="1083005"/>
            <a:ext cx="343725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14"/>
              <a:t>Plan</a:t>
            </a:r>
            <a:r>
              <a:rPr dirty="0" sz="4400" spc="-160"/>
              <a:t> </a:t>
            </a:r>
            <a:r>
              <a:rPr dirty="0" sz="4400" spc="-300"/>
              <a:t>du</a:t>
            </a:r>
            <a:r>
              <a:rPr dirty="0" sz="4400" spc="-10"/>
              <a:t> </a:t>
            </a:r>
            <a:r>
              <a:rPr dirty="0" sz="4400" spc="-200"/>
              <a:t>cours</a:t>
            </a:r>
            <a:endParaRPr sz="4400"/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1264158" y="3011296"/>
            <a:ext cx="6118225" cy="1742439"/>
          </a:xfrm>
          <a:prstGeom prst="rect">
            <a:avLst/>
          </a:prstGeom>
        </p:spPr>
        <p:txBody>
          <a:bodyPr wrap="square" lIns="0" tIns="218440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72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400" spc="-20">
                <a:solidFill>
                  <a:srgbClr val="5D7C40"/>
                </a:solidFill>
                <a:latin typeface="Franklin Gothic Medium"/>
                <a:cs typeface="Franklin Gothic Medium"/>
              </a:rPr>
              <a:t>Introduction</a:t>
            </a:r>
            <a:r>
              <a:rPr dirty="0" sz="2400" spc="-114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5D7C40"/>
                </a:solidFill>
                <a:latin typeface="Franklin Gothic Medium"/>
                <a:cs typeface="Franklin Gothic Medium"/>
              </a:rPr>
              <a:t>aux</a:t>
            </a:r>
            <a:r>
              <a:rPr dirty="0" sz="2400" spc="-10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>
                <a:solidFill>
                  <a:srgbClr val="5D7C40"/>
                </a:solidFill>
                <a:latin typeface="Franklin Gothic Medium"/>
                <a:cs typeface="Franklin Gothic Medium"/>
              </a:rPr>
              <a:t>approches</a:t>
            </a:r>
            <a:r>
              <a:rPr dirty="0" sz="2400" spc="-10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méthodologiques</a:t>
            </a:r>
            <a:endParaRPr sz="24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625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400">
                <a:solidFill>
                  <a:srgbClr val="5D7C40"/>
                </a:solidFill>
                <a:latin typeface="Franklin Gothic Medium"/>
                <a:cs typeface="Franklin Gothic Medium"/>
              </a:rPr>
              <a:t>Méthodes</a:t>
            </a:r>
            <a:r>
              <a:rPr dirty="0" sz="2400" spc="-10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Agiles</a:t>
            </a:r>
            <a:endParaRPr sz="24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63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4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Scrum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64158" y="4933264"/>
            <a:ext cx="1327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5D7C40"/>
                </a:solidFill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60194" y="4974209"/>
            <a:ext cx="2135505" cy="3460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660"/>
              </a:lnSpc>
            </a:pPr>
            <a:r>
              <a:rPr dirty="0" sz="2400">
                <a:solidFill>
                  <a:srgbClr val="5D7C40"/>
                </a:solidFill>
                <a:latin typeface="Franklin Gothic Medium"/>
                <a:cs typeface="Franklin Gothic Medium"/>
              </a:rPr>
              <a:t>Processus</a:t>
            </a:r>
            <a:r>
              <a:rPr dirty="0" sz="2400" spc="-15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400" spc="-20">
                <a:solidFill>
                  <a:srgbClr val="5D7C40"/>
                </a:solidFill>
                <a:latin typeface="Franklin Gothic Medium"/>
                <a:cs typeface="Franklin Gothic Medium"/>
              </a:rPr>
              <a:t>Unifié</a:t>
            </a:r>
            <a:endParaRPr sz="2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62700" y="0"/>
            <a:ext cx="5829300" cy="3235960"/>
            <a:chOff x="6362700" y="0"/>
            <a:chExt cx="5829300" cy="3235960"/>
          </a:xfrm>
        </p:grpSpPr>
        <p:sp>
          <p:nvSpPr>
            <p:cNvPr id="3" name="object 3" descr=""/>
            <p:cNvSpPr/>
            <p:nvPr/>
          </p:nvSpPr>
          <p:spPr>
            <a:xfrm>
              <a:off x="6362700" y="0"/>
              <a:ext cx="3883660" cy="3235960"/>
            </a:xfrm>
            <a:custGeom>
              <a:avLst/>
              <a:gdLst/>
              <a:ahLst/>
              <a:cxnLst/>
              <a:rect l="l" t="t" r="r" b="b"/>
              <a:pathLst>
                <a:path w="3883659" h="3235960">
                  <a:moveTo>
                    <a:pt x="1296416" y="0"/>
                  </a:moveTo>
                  <a:lnTo>
                    <a:pt x="0" y="0"/>
                  </a:lnTo>
                  <a:lnTo>
                    <a:pt x="1289811" y="1289939"/>
                  </a:lnTo>
                  <a:lnTo>
                    <a:pt x="1939163" y="641730"/>
                  </a:lnTo>
                  <a:lnTo>
                    <a:pt x="1296416" y="0"/>
                  </a:lnTo>
                  <a:close/>
                </a:path>
                <a:path w="3883659" h="3235960">
                  <a:moveTo>
                    <a:pt x="3235452" y="1939163"/>
                  </a:moveTo>
                  <a:lnTo>
                    <a:pt x="2587244" y="2587371"/>
                  </a:lnTo>
                  <a:lnTo>
                    <a:pt x="3235452" y="3235579"/>
                  </a:lnTo>
                  <a:lnTo>
                    <a:pt x="3883659" y="2587371"/>
                  </a:lnTo>
                  <a:lnTo>
                    <a:pt x="3235452" y="1939163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004430" y="1289938"/>
              <a:ext cx="1945639" cy="1945639"/>
            </a:xfrm>
            <a:custGeom>
              <a:avLst/>
              <a:gdLst/>
              <a:ahLst/>
              <a:cxnLst/>
              <a:rect l="l" t="t" r="r" b="b"/>
              <a:pathLst>
                <a:path w="1945640" h="1945639">
                  <a:moveTo>
                    <a:pt x="648080" y="0"/>
                  </a:moveTo>
                  <a:lnTo>
                    <a:pt x="0" y="649224"/>
                  </a:lnTo>
                  <a:lnTo>
                    <a:pt x="1297432" y="1945639"/>
                  </a:lnTo>
                  <a:lnTo>
                    <a:pt x="1945513" y="1297432"/>
                  </a:lnTo>
                  <a:lnTo>
                    <a:pt x="648080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55404" y="0"/>
              <a:ext cx="1284605" cy="641985"/>
            </a:xfrm>
            <a:custGeom>
              <a:avLst/>
              <a:gdLst/>
              <a:ahLst/>
              <a:cxnLst/>
              <a:rect l="l" t="t" r="r" b="b"/>
              <a:pathLst>
                <a:path w="1284604" h="641985">
                  <a:moveTo>
                    <a:pt x="1284477" y="0"/>
                  </a:moveTo>
                  <a:lnTo>
                    <a:pt x="0" y="0"/>
                  </a:lnTo>
                  <a:lnTo>
                    <a:pt x="641730" y="641730"/>
                  </a:lnTo>
                  <a:lnTo>
                    <a:pt x="1284477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652511" y="641730"/>
              <a:ext cx="1945639" cy="1945639"/>
            </a:xfrm>
            <a:custGeom>
              <a:avLst/>
              <a:gdLst/>
              <a:ahLst/>
              <a:cxnLst/>
              <a:rect l="l" t="t" r="r" b="b"/>
              <a:pathLst>
                <a:path w="1945640" h="1945639">
                  <a:moveTo>
                    <a:pt x="649351" y="0"/>
                  </a:moveTo>
                  <a:lnTo>
                    <a:pt x="0" y="648208"/>
                  </a:lnTo>
                  <a:lnTo>
                    <a:pt x="1297432" y="1945640"/>
                  </a:lnTo>
                  <a:lnTo>
                    <a:pt x="1945640" y="1297432"/>
                  </a:lnTo>
                  <a:lnTo>
                    <a:pt x="649351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598151" y="641730"/>
              <a:ext cx="2593975" cy="2593975"/>
            </a:xfrm>
            <a:custGeom>
              <a:avLst/>
              <a:gdLst/>
              <a:ahLst/>
              <a:cxnLst/>
              <a:rect l="l" t="t" r="r" b="b"/>
              <a:pathLst>
                <a:path w="2593975" h="2593975">
                  <a:moveTo>
                    <a:pt x="1296416" y="0"/>
                  </a:moveTo>
                  <a:lnTo>
                    <a:pt x="0" y="1297432"/>
                  </a:lnTo>
                  <a:lnTo>
                    <a:pt x="1296416" y="2593848"/>
                  </a:lnTo>
                  <a:lnTo>
                    <a:pt x="2593848" y="1297432"/>
                  </a:lnTo>
                  <a:lnTo>
                    <a:pt x="1296416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/>
          <p:nvPr/>
        </p:nvSpPr>
        <p:spPr>
          <a:xfrm>
            <a:off x="594359" y="2148839"/>
            <a:ext cx="2131060" cy="0"/>
          </a:xfrm>
          <a:custGeom>
            <a:avLst/>
            <a:gdLst/>
            <a:ahLst/>
            <a:cxnLst/>
            <a:rect l="l" t="t" r="r" b="b"/>
            <a:pathLst>
              <a:path w="2131060" h="0">
                <a:moveTo>
                  <a:pt x="0" y="0"/>
                </a:moveTo>
                <a:lnTo>
                  <a:pt x="2130552" y="0"/>
                </a:lnTo>
              </a:path>
            </a:pathLst>
          </a:custGeom>
          <a:ln w="101600">
            <a:solidFill>
              <a:srgbClr val="5D7C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50"/>
              <a:t>Eléments</a:t>
            </a:r>
            <a:r>
              <a:rPr dirty="0" sz="4400" spc="-110"/>
              <a:t> </a:t>
            </a:r>
            <a:r>
              <a:rPr dirty="0" sz="4400" spc="-300"/>
              <a:t>du</a:t>
            </a:r>
            <a:r>
              <a:rPr dirty="0" sz="4400" spc="-30"/>
              <a:t> </a:t>
            </a:r>
            <a:r>
              <a:rPr dirty="0" sz="4400" spc="-70"/>
              <a:t>chapitre</a:t>
            </a:r>
            <a:endParaRPr sz="4400"/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581050" y="2657982"/>
            <a:ext cx="4271645" cy="3470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Introduction</a:t>
            </a:r>
            <a:endParaRPr sz="20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PU</a:t>
            </a:r>
            <a:r>
              <a:rPr dirty="0" sz="2000" spc="-5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20">
                <a:solidFill>
                  <a:srgbClr val="5D7C40"/>
                </a:solidFill>
                <a:latin typeface="Franklin Gothic Medium"/>
                <a:cs typeface="Franklin Gothic Medium"/>
              </a:rPr>
              <a:t>(Définition,</a:t>
            </a:r>
            <a:r>
              <a:rPr dirty="0" sz="2000" spc="-7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objectifs,</a:t>
            </a:r>
            <a:r>
              <a:rPr dirty="0" sz="2000" spc="-7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principes)</a:t>
            </a:r>
            <a:endParaRPr sz="20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 spc="-25">
                <a:solidFill>
                  <a:srgbClr val="5D7C40"/>
                </a:solidFill>
                <a:latin typeface="Franklin Gothic Medium"/>
                <a:cs typeface="Franklin Gothic Medium"/>
              </a:rPr>
              <a:t>Artefacts</a:t>
            </a:r>
            <a:r>
              <a:rPr dirty="0" sz="2000" spc="-4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d’un</a:t>
            </a:r>
            <a:r>
              <a:rPr dirty="0" sz="2000" spc="-35">
                <a:solidFill>
                  <a:srgbClr val="5D7C40"/>
                </a:solidFill>
                <a:latin typeface="Franklin Gothic Medium"/>
                <a:cs typeface="Franklin Gothic Medium"/>
              </a:rPr>
              <a:t> PU</a:t>
            </a:r>
            <a:endParaRPr sz="20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Caractéristiques</a:t>
            </a:r>
            <a:r>
              <a:rPr dirty="0" sz="2000" spc="-7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du</a:t>
            </a:r>
            <a:r>
              <a:rPr dirty="0" sz="2000" spc="-5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Processus</a:t>
            </a:r>
            <a:r>
              <a:rPr dirty="0" sz="2000" spc="-7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Unifié</a:t>
            </a:r>
            <a:endParaRPr sz="20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714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Les</a:t>
            </a:r>
            <a:r>
              <a:rPr dirty="0" sz="2000" spc="-6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phases</a:t>
            </a:r>
            <a:r>
              <a:rPr dirty="0" sz="2000" spc="-6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du</a:t>
            </a:r>
            <a:r>
              <a:rPr dirty="0" sz="2000" spc="-3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Processus</a:t>
            </a:r>
            <a:r>
              <a:rPr dirty="0" sz="2000" spc="-6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Unifié</a:t>
            </a:r>
            <a:endParaRPr sz="20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720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Les</a:t>
            </a:r>
            <a:r>
              <a:rPr dirty="0" sz="2000" spc="-7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activités</a:t>
            </a:r>
            <a:r>
              <a:rPr dirty="0" sz="2000" spc="-7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de</a:t>
            </a:r>
            <a:r>
              <a:rPr dirty="0" sz="2000" spc="-4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processus</a:t>
            </a:r>
            <a:endParaRPr sz="2000">
              <a:latin typeface="Franklin Gothic Medium"/>
              <a:cs typeface="Franklin Gothic Medium"/>
            </a:endParaRPr>
          </a:p>
          <a:p>
            <a:pPr marL="295910" indent="-283210">
              <a:lnSpc>
                <a:spcPct val="100000"/>
              </a:lnSpc>
              <a:spcBef>
                <a:spcPts val="1725"/>
              </a:spcBef>
              <a:buFont typeface="Arial MT"/>
              <a:buChar char="•"/>
              <a:tabLst>
                <a:tab pos="295910" algn="l"/>
              </a:tabLst>
            </a:pP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Les</a:t>
            </a:r>
            <a:r>
              <a:rPr dirty="0" sz="2000" spc="-5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4 «</a:t>
            </a:r>
            <a:r>
              <a:rPr dirty="0" sz="2000" spc="-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P</a:t>
            </a:r>
            <a:r>
              <a:rPr dirty="0" sz="2000" spc="-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»</a:t>
            </a:r>
            <a:r>
              <a:rPr dirty="0" sz="2000" spc="-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>
                <a:solidFill>
                  <a:srgbClr val="5D7C40"/>
                </a:solidFill>
                <a:latin typeface="Franklin Gothic Medium"/>
                <a:cs typeface="Franklin Gothic Medium"/>
              </a:rPr>
              <a:t>du</a:t>
            </a:r>
            <a:r>
              <a:rPr dirty="0" sz="2000" spc="-15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30">
                <a:solidFill>
                  <a:srgbClr val="5D7C40"/>
                </a:solidFill>
                <a:latin typeface="Franklin Gothic Medium"/>
                <a:cs typeface="Franklin Gothic Medium"/>
              </a:rPr>
              <a:t>développement</a:t>
            </a:r>
            <a:r>
              <a:rPr dirty="0" sz="2000" spc="-40">
                <a:solidFill>
                  <a:srgbClr val="5D7C40"/>
                </a:solidFill>
                <a:latin typeface="Franklin Gothic Medium"/>
                <a:cs typeface="Franklin Gothic Medium"/>
              </a:rPr>
              <a:t> </a:t>
            </a:r>
            <a:r>
              <a:rPr dirty="0" sz="2000" spc="-10">
                <a:solidFill>
                  <a:srgbClr val="5D7C40"/>
                </a:solidFill>
                <a:latin typeface="Franklin Gothic Medium"/>
                <a:cs typeface="Franklin Gothic Medium"/>
              </a:rPr>
              <a:t>logiciel</a:t>
            </a:r>
            <a:endParaRPr sz="2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80"/>
              <a:t>Introduction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34923" y="3139820"/>
            <a:ext cx="10535920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i="1">
                <a:latin typeface="Times New Roman"/>
                <a:cs typeface="Times New Roman"/>
              </a:rPr>
              <a:t>L'objectif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sous-jacent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que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poursuit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une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entreprise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n'est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évidement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pas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de</a:t>
            </a:r>
            <a:r>
              <a:rPr dirty="0" sz="2000" spc="-1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posséder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un</a:t>
            </a:r>
            <a:r>
              <a:rPr dirty="0" sz="2000" spc="-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bon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système</a:t>
            </a:r>
            <a:endParaRPr sz="2000">
              <a:latin typeface="Times New Roman"/>
              <a:cs typeface="Times New Roman"/>
            </a:endParaRPr>
          </a:p>
          <a:p>
            <a:pPr marL="76200" marR="5080">
              <a:lnSpc>
                <a:spcPct val="200000"/>
              </a:lnSpc>
            </a:pPr>
            <a:r>
              <a:rPr dirty="0" sz="2000" i="1">
                <a:latin typeface="Times New Roman"/>
                <a:cs typeface="Times New Roman"/>
              </a:rPr>
              <a:t>informatique,</a:t>
            </a:r>
            <a:r>
              <a:rPr dirty="0" sz="2000" spc="-6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mais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d'exploiter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les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processus</a:t>
            </a:r>
            <a:r>
              <a:rPr dirty="0" sz="2000" spc="-6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métiers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(ou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les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systèmes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intégrés)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pour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répondre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au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spc="-10" i="1">
                <a:latin typeface="Times New Roman"/>
                <a:cs typeface="Times New Roman"/>
              </a:rPr>
              <a:t>mieux </a:t>
            </a:r>
            <a:r>
              <a:rPr dirty="0" sz="2000" i="1">
                <a:latin typeface="Times New Roman"/>
                <a:cs typeface="Times New Roman"/>
              </a:rPr>
              <a:t>à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la</a:t>
            </a:r>
            <a:r>
              <a:rPr dirty="0" sz="2000" spc="-3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demande</a:t>
            </a:r>
            <a:r>
              <a:rPr dirty="0" sz="2000" spc="-3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du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marché</a:t>
            </a:r>
            <a:r>
              <a:rPr dirty="0" sz="2000" spc="-5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et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accélérer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la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production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biens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et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services</a:t>
            </a:r>
            <a:r>
              <a:rPr dirty="0" sz="2000" spc="-4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de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qualité</a:t>
            </a:r>
            <a:r>
              <a:rPr dirty="0" sz="2000" spc="-4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à</a:t>
            </a:r>
            <a:r>
              <a:rPr dirty="0" sz="2000" spc="-20" i="1">
                <a:latin typeface="Times New Roman"/>
                <a:cs typeface="Times New Roman"/>
              </a:rPr>
              <a:t> </a:t>
            </a:r>
            <a:r>
              <a:rPr dirty="0" sz="2000" i="1">
                <a:latin typeface="Times New Roman"/>
                <a:cs typeface="Times New Roman"/>
              </a:rPr>
              <a:t>un</a:t>
            </a:r>
            <a:r>
              <a:rPr dirty="0" sz="2000" spc="-25" i="1">
                <a:latin typeface="Times New Roman"/>
                <a:cs typeface="Times New Roman"/>
              </a:rPr>
              <a:t> </a:t>
            </a:r>
            <a:r>
              <a:rPr dirty="0" sz="2000" spc="-20" i="1">
                <a:latin typeface="Times New Roman"/>
                <a:cs typeface="Times New Roman"/>
              </a:rPr>
              <a:t>prix </a:t>
            </a:r>
            <a:r>
              <a:rPr dirty="0" sz="2000" spc="-10" i="1">
                <a:latin typeface="Times New Roman"/>
                <a:cs typeface="Times New Roman"/>
              </a:rPr>
              <a:t>raisonnable.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80"/>
              <a:t>Introduction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34923" y="2806065"/>
            <a:ext cx="637413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création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</a:t>
            </a:r>
            <a:r>
              <a:rPr dirty="0" sz="1800" spc="4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imposants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10">
                <a:latin typeface="Times New Roman"/>
                <a:cs typeface="Times New Roman"/>
              </a:rPr>
              <a:t> complexes.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cherche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logiciels: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lvl="1" marL="811530" indent="-341630">
              <a:lnSpc>
                <a:spcPct val="100000"/>
              </a:lnSpc>
              <a:buFont typeface="Courier New"/>
              <a:buChar char="o"/>
              <a:tabLst>
                <a:tab pos="811530" algn="l"/>
              </a:tabLst>
            </a:pPr>
            <a:r>
              <a:rPr dirty="0" sz="1800">
                <a:latin typeface="Times New Roman"/>
                <a:cs typeface="Times New Roman"/>
              </a:rPr>
              <a:t>plus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adoptés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besoins,</a:t>
            </a:r>
            <a:endParaRPr sz="1800">
              <a:latin typeface="Times New Roman"/>
              <a:cs typeface="Times New Roman"/>
            </a:endParaRPr>
          </a:p>
          <a:p>
            <a:pPr lvl="1" marL="811530" indent="-341630">
              <a:lnSpc>
                <a:spcPct val="100000"/>
              </a:lnSpc>
              <a:buFont typeface="Courier New"/>
              <a:buChar char="o"/>
              <a:tabLst>
                <a:tab pos="811530" algn="l"/>
              </a:tabLst>
            </a:pPr>
            <a:r>
              <a:rPr dirty="0" sz="1800">
                <a:latin typeface="Times New Roman"/>
                <a:cs typeface="Times New Roman"/>
              </a:rPr>
              <a:t>répondent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aux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exigences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marché,</a:t>
            </a:r>
            <a:endParaRPr sz="1800">
              <a:latin typeface="Times New Roman"/>
              <a:cs typeface="Times New Roman"/>
            </a:endParaRPr>
          </a:p>
          <a:p>
            <a:pPr lvl="1" marL="811530" indent="-341630">
              <a:lnSpc>
                <a:spcPct val="100000"/>
              </a:lnSpc>
              <a:buFont typeface="Courier New"/>
              <a:buChar char="o"/>
              <a:tabLst>
                <a:tab pos="811530" algn="l"/>
              </a:tabLst>
            </a:pP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délais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fixes,</a:t>
            </a:r>
            <a:endParaRPr sz="1800">
              <a:latin typeface="Times New Roman"/>
              <a:cs typeface="Times New Roman"/>
            </a:endParaRPr>
          </a:p>
          <a:p>
            <a:pPr lvl="1" marL="811530" indent="-341630">
              <a:lnSpc>
                <a:spcPct val="100000"/>
              </a:lnSpc>
              <a:buFont typeface="Courier New"/>
              <a:buChar char="o"/>
              <a:tabLst>
                <a:tab pos="811530" algn="l"/>
              </a:tabLst>
            </a:pPr>
            <a:r>
              <a:rPr dirty="0" sz="1800">
                <a:latin typeface="Times New Roman"/>
                <a:cs typeface="Times New Roman"/>
              </a:rPr>
              <a:t>avec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 coûts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réduits,</a:t>
            </a:r>
            <a:endParaRPr sz="1800">
              <a:latin typeface="Times New Roman"/>
              <a:cs typeface="Times New Roman"/>
            </a:endParaRPr>
          </a:p>
          <a:p>
            <a:pPr lvl="1" marL="811530" indent="-34163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811530" algn="l"/>
              </a:tabLst>
            </a:pPr>
            <a:r>
              <a:rPr dirty="0" sz="1800">
                <a:latin typeface="Times New Roman"/>
                <a:cs typeface="Times New Roman"/>
              </a:rPr>
              <a:t>mieux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documentés.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90"/>
              <a:t>Processus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34923" y="2531745"/>
            <a:ext cx="1039812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236854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définit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séquence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d’étapes,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ordonnées,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concourent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l’obtention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 </a:t>
            </a:r>
            <a:r>
              <a:rPr dirty="0" sz="1800">
                <a:latin typeface="Times New Roman"/>
                <a:cs typeface="Times New Roman"/>
              </a:rPr>
              <a:t>logiciel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l’évolution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système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existant.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spc="-20">
                <a:latin typeface="Times New Roman"/>
                <a:cs typeface="Times New Roman"/>
              </a:rPr>
              <a:t>L’objet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produire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qualité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répondent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aux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besoins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de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leurs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utilisateurs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temps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coûts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prévisibles.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1083005"/>
            <a:ext cx="431927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80"/>
              <a:t>Processus</a:t>
            </a:r>
            <a:r>
              <a:rPr dirty="0" sz="4400" spc="-75"/>
              <a:t> </a:t>
            </a:r>
            <a:r>
              <a:rPr dirty="0" sz="4400" spc="-35"/>
              <a:t>Unifié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78865" y="2885947"/>
            <a:ext cx="1089533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«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unifié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c’est-</a:t>
            </a:r>
            <a:r>
              <a:rPr dirty="0" sz="1800" spc="-10">
                <a:latin typeface="Times New Roman"/>
                <a:cs typeface="Times New Roman"/>
              </a:rPr>
              <a:t>à-</a:t>
            </a:r>
            <a:r>
              <a:rPr dirty="0" sz="1800">
                <a:latin typeface="Times New Roman"/>
                <a:cs typeface="Times New Roman"/>
              </a:rPr>
              <a:t>dire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qu’il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regroupe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activités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mener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pour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transformer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besoins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utilisateur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système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»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(Jacobson,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Booch,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Rumbaugh </a:t>
            </a:r>
            <a:r>
              <a:rPr dirty="0" sz="1800" spc="-10">
                <a:latin typeface="Times New Roman"/>
                <a:cs typeface="Times New Roman"/>
              </a:rPr>
              <a:t>1999)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2044064" y="4236846"/>
            <a:ext cx="954405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unifié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(PU)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prend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charge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cycle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vie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notamment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son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développement,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orientés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objets.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incrémental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associée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l’utilisation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langage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 modélisation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UML.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1083005"/>
            <a:ext cx="431927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80"/>
              <a:t>Processus</a:t>
            </a:r>
            <a:r>
              <a:rPr dirty="0" sz="4400" spc="-75"/>
              <a:t> </a:t>
            </a:r>
            <a:r>
              <a:rPr dirty="0" sz="4400" spc="-35"/>
              <a:t>Unifié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73100" y="3060572"/>
            <a:ext cx="1065149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résultat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Objectory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d'Ivar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Jacobson,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Grady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Boochet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OMT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James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Rumbaugh,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enrichi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nombreux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apports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issus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travaux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d'élaboration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standard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UML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commercial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RUP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(Rational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Unified</a:t>
            </a:r>
            <a:r>
              <a:rPr dirty="0" sz="1800" spc="-10">
                <a:latin typeface="Times New Roman"/>
                <a:cs typeface="Times New Roman"/>
              </a:rPr>
              <a:t> Process).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1083005"/>
            <a:ext cx="431927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80"/>
              <a:t>Processus</a:t>
            </a:r>
            <a:r>
              <a:rPr dirty="0" sz="4400" spc="-75"/>
              <a:t> </a:t>
            </a:r>
            <a:r>
              <a:rPr dirty="0" sz="4400" spc="-35"/>
              <a:t>Unifié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47089" y="2462910"/>
            <a:ext cx="1087247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Unifié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(Unified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Process)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générique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</a:t>
            </a:r>
            <a:r>
              <a:rPr dirty="0" sz="1800" spc="-10">
                <a:latin typeface="Times New Roman"/>
                <a:cs typeface="Times New Roman"/>
              </a:rPr>
              <a:t> développée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concepteurs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d’UML.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Font typeface="Arial MT"/>
              <a:buChar char="•"/>
              <a:tabLst>
                <a:tab pos="413384" algn="l"/>
              </a:tabLst>
            </a:pPr>
            <a:r>
              <a:rPr dirty="0" sz="1800">
                <a:latin typeface="Times New Roman"/>
                <a:cs typeface="Times New Roman"/>
              </a:rPr>
              <a:t>Générique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signifie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qu'il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nécessaire</a:t>
            </a:r>
            <a:r>
              <a:rPr dirty="0" sz="1800" spc="3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d'adapter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contexte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projet,</a:t>
            </a:r>
            <a:r>
              <a:rPr dirty="0" sz="1800" spc="3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l'équipe,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domaine</a:t>
            </a:r>
            <a:r>
              <a:rPr dirty="0" sz="1800" spc="3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et/ou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de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l'organisation.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Char char="•"/>
              <a:tabLst>
                <a:tab pos="355600" algn="l"/>
                <a:tab pos="413384" algn="l"/>
              </a:tabLst>
            </a:pPr>
            <a:r>
              <a:rPr dirty="0" sz="1800">
                <a:latin typeface="Arial MT"/>
                <a:cs typeface="Arial MT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Il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existe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donc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certain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nombre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méthodes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issues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comme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exemple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RUP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(Rational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Unified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Process), </a:t>
            </a:r>
            <a:r>
              <a:rPr dirty="0" sz="1800">
                <a:latin typeface="Times New Roman"/>
                <a:cs typeface="Times New Roman"/>
              </a:rPr>
              <a:t>2TUP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 spc="-30">
                <a:latin typeface="Times New Roman"/>
                <a:cs typeface="Times New Roman"/>
              </a:rPr>
              <a:t>(Two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Track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Process)</a:t>
            </a:r>
            <a:r>
              <a:rPr dirty="0" sz="1800" spc="-50">
                <a:latin typeface="Times New Roman"/>
                <a:cs typeface="Times New Roman"/>
              </a:rPr>
              <a:t> 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90"/>
              <a:t>Objectifs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47089" y="2873755"/>
            <a:ext cx="996632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412115" algn="l"/>
              </a:tabLst>
            </a:pPr>
            <a:r>
              <a:rPr dirty="0" sz="1800">
                <a:solidFill>
                  <a:srgbClr val="707BA3"/>
                </a:solidFill>
                <a:latin typeface="Arial MT"/>
                <a:cs typeface="Arial MT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L'objectif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d'un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unifié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maîtriser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complexité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informatiques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diminuant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les </a:t>
            </a:r>
            <a:r>
              <a:rPr dirty="0" sz="1800" spc="-10">
                <a:latin typeface="Times New Roman"/>
                <a:cs typeface="Times New Roman"/>
              </a:rPr>
              <a:t>risques.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707BA3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412115" indent="-399415">
              <a:lnSpc>
                <a:spcPct val="100000"/>
              </a:lnSpc>
              <a:buClr>
                <a:srgbClr val="707BA3"/>
              </a:buClr>
              <a:buFont typeface="Arial MT"/>
              <a:buChar char="•"/>
              <a:tabLst>
                <a:tab pos="412115" algn="l"/>
              </a:tabLst>
            </a:pP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répond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aux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préoccupations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suivantes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869315" indent="-399415">
              <a:lnSpc>
                <a:spcPct val="100000"/>
              </a:lnSpc>
              <a:buClr>
                <a:srgbClr val="9FB8CE"/>
              </a:buClr>
              <a:buFont typeface="Courier New"/>
              <a:buChar char="o"/>
              <a:tabLst>
                <a:tab pos="869315" algn="l"/>
              </a:tabLst>
            </a:pPr>
            <a:r>
              <a:rPr dirty="0" sz="1800" b="1">
                <a:latin typeface="Times New Roman"/>
                <a:cs typeface="Times New Roman"/>
              </a:rPr>
              <a:t>QUI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participe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  <a:p>
            <a:pPr lvl="1" marL="869315" indent="-399415">
              <a:lnSpc>
                <a:spcPct val="100000"/>
              </a:lnSpc>
              <a:buClr>
                <a:srgbClr val="9FB8CE"/>
              </a:buClr>
              <a:buFont typeface="Courier New"/>
              <a:buChar char="o"/>
              <a:tabLst>
                <a:tab pos="869315" algn="l"/>
              </a:tabLst>
            </a:pPr>
            <a:r>
              <a:rPr dirty="0" sz="1800" b="1">
                <a:latin typeface="Times New Roman"/>
                <a:cs typeface="Times New Roman"/>
              </a:rPr>
              <a:t>QUOI</a:t>
            </a:r>
            <a:r>
              <a:rPr dirty="0" sz="1800">
                <a:solidFill>
                  <a:srgbClr val="464652"/>
                </a:solidFill>
                <a:latin typeface="Times New Roman"/>
                <a:cs typeface="Times New Roman"/>
              </a:rPr>
              <a:t>,</a:t>
            </a:r>
            <a:r>
              <a:rPr dirty="0" sz="1800" spc="-15">
                <a:solidFill>
                  <a:srgbClr val="464652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qu'est-</a:t>
            </a:r>
            <a:r>
              <a:rPr dirty="0" sz="1800">
                <a:latin typeface="Times New Roman"/>
                <a:cs typeface="Times New Roman"/>
              </a:rPr>
              <a:t>ce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durant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  <a:p>
            <a:pPr lvl="1" marL="869315" indent="-399415">
              <a:lnSpc>
                <a:spcPct val="100000"/>
              </a:lnSpc>
              <a:buClr>
                <a:srgbClr val="9FB8CE"/>
              </a:buClr>
              <a:buFont typeface="Courier New"/>
              <a:buChar char="o"/>
              <a:tabLst>
                <a:tab pos="869315" algn="l"/>
              </a:tabLst>
            </a:pPr>
            <a:r>
              <a:rPr dirty="0" sz="1800" b="1">
                <a:latin typeface="Times New Roman"/>
                <a:cs typeface="Times New Roman"/>
              </a:rPr>
              <a:t>COMMENT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doit-</a:t>
            </a:r>
            <a:r>
              <a:rPr dirty="0" sz="1800">
                <a:latin typeface="Times New Roman"/>
                <a:cs typeface="Times New Roman"/>
              </a:rPr>
              <a:t>il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être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réalisé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  <a:p>
            <a:pPr lvl="1" marL="869315" indent="-399415">
              <a:lnSpc>
                <a:spcPct val="100000"/>
              </a:lnSpc>
              <a:buClr>
                <a:srgbClr val="9FB8CE"/>
              </a:buClr>
              <a:buFont typeface="Courier New"/>
              <a:buChar char="o"/>
              <a:tabLst>
                <a:tab pos="869315" algn="l"/>
              </a:tabLst>
            </a:pPr>
            <a:r>
              <a:rPr dirty="0" sz="1800" b="1">
                <a:latin typeface="Times New Roman"/>
                <a:cs typeface="Times New Roman"/>
              </a:rPr>
              <a:t>QUAND </a:t>
            </a:r>
            <a:r>
              <a:rPr dirty="0" sz="1800">
                <a:latin typeface="Times New Roman"/>
                <a:cs typeface="Times New Roman"/>
              </a:rPr>
              <a:t>est réalisé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chaque livrable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90"/>
              <a:t>Objectifs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89125" y="2723515"/>
            <a:ext cx="1050544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Char char="•"/>
              <a:tabLst>
                <a:tab pos="320040" algn="l"/>
              </a:tabLst>
            </a:pPr>
            <a:r>
              <a:rPr dirty="0" sz="1800">
                <a:latin typeface="Times New Roman"/>
                <a:cs typeface="Times New Roman"/>
              </a:rPr>
              <a:t>Produire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qualité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respectant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contraintes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délai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coûts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performance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Fournir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lignes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directrices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développement</a:t>
            </a:r>
            <a:r>
              <a:rPr dirty="0" sz="1800" spc="3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efficace</a:t>
            </a:r>
            <a:r>
              <a:rPr dirty="0" sz="1800" spc="32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logiciel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qualité</a:t>
            </a:r>
            <a:r>
              <a:rPr dirty="0" sz="1800">
                <a:latin typeface="Times New Roman"/>
                <a:cs typeface="Times New Roman"/>
              </a:rPr>
              <a:t>,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3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réduisant</a:t>
            </a:r>
            <a:r>
              <a:rPr dirty="0" sz="1800" spc="320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les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risques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améliorant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les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prévisions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marR="69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Décrire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meilleures</a:t>
            </a:r>
            <a:r>
              <a:rPr dirty="0" sz="1800" spc="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méthodes</a:t>
            </a:r>
            <a:r>
              <a:rPr dirty="0" sz="1800" spc="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</a:t>
            </a:r>
            <a:r>
              <a:rPr dirty="0" sz="1800" spc="9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travail</a:t>
            </a:r>
            <a:r>
              <a:rPr dirty="0" sz="1800" spc="9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apprendre</a:t>
            </a:r>
            <a:r>
              <a:rPr dirty="0" sz="1800" spc="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expériences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précédentes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l’amélioration</a:t>
            </a:r>
            <a:r>
              <a:rPr dirty="0" sz="1800" spc="9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du </a:t>
            </a:r>
            <a:r>
              <a:rPr dirty="0" sz="1800">
                <a:latin typeface="Times New Roman"/>
                <a:cs typeface="Times New Roman"/>
              </a:rPr>
              <a:t>support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 </a:t>
            </a:r>
            <a:r>
              <a:rPr dirty="0" sz="1800" spc="-10">
                <a:latin typeface="Times New Roman"/>
                <a:cs typeface="Times New Roman"/>
              </a:rPr>
              <a:t>formation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Times New Roman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Établir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culture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commune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80"/>
              <a:t>Variantes</a:t>
            </a:r>
            <a:r>
              <a:rPr dirty="0" sz="4400" spc="-70"/>
              <a:t> </a:t>
            </a:r>
            <a:r>
              <a:rPr dirty="0" sz="4400" spc="-275"/>
              <a:t>du</a:t>
            </a:r>
            <a:r>
              <a:rPr dirty="0" sz="4400" spc="-30"/>
              <a:t> </a:t>
            </a:r>
            <a:r>
              <a:rPr dirty="0" sz="4400" spc="-285"/>
              <a:t>UP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93191" y="2349246"/>
            <a:ext cx="11320145" cy="384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20" b="1">
                <a:solidFill>
                  <a:srgbClr val="3366CC"/>
                </a:solidFill>
                <a:latin typeface="Times New Roman"/>
                <a:cs typeface="Times New Roman"/>
              </a:rPr>
              <a:t>RUP</a:t>
            </a:r>
            <a:r>
              <a:rPr dirty="0" sz="1800" spc="-95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Rational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Unified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Instanciation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Rational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Software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(IBM)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préceptes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UP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EUP</a:t>
            </a:r>
            <a:r>
              <a:rPr dirty="0" sz="1800" spc="-75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Enterprise</a:t>
            </a:r>
            <a:r>
              <a:rPr dirty="0" sz="1800" spc="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Unified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</a:t>
            </a:r>
            <a:r>
              <a:rPr dirty="0" sz="1800" spc="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1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Instanciation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intégrant les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phases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post-</a:t>
            </a:r>
            <a:r>
              <a:rPr dirty="0" sz="1800">
                <a:latin typeface="Times New Roman"/>
                <a:cs typeface="Times New Roman"/>
              </a:rPr>
              <a:t>implantation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décrivant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 cycle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vie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10">
                <a:latin typeface="Times New Roman"/>
                <a:cs typeface="Times New Roman"/>
              </a:rPr>
              <a:t> logiciel.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XUP</a:t>
            </a:r>
            <a:r>
              <a:rPr dirty="0" sz="1800" spc="-114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Extreme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Unified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Instanciation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hybride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intégrant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avec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Extreme</a:t>
            </a:r>
            <a:r>
              <a:rPr dirty="0" sz="1800" spc="-10">
                <a:latin typeface="Times New Roman"/>
                <a:cs typeface="Times New Roman"/>
              </a:rPr>
              <a:t> Programming.</a:t>
            </a:r>
            <a:endParaRPr sz="1800">
              <a:latin typeface="Times New Roman"/>
              <a:cs typeface="Times New Roman"/>
            </a:endParaRPr>
          </a:p>
          <a:p>
            <a:pPr marL="299085" marR="635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AUP</a:t>
            </a:r>
            <a:r>
              <a:rPr dirty="0" sz="1800" spc="-8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 Agile</a:t>
            </a:r>
            <a:r>
              <a:rPr dirty="0" sz="1800" spc="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Unified</a:t>
            </a:r>
            <a:r>
              <a:rPr dirty="0" sz="1800" spc="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Process: </a:t>
            </a:r>
            <a:r>
              <a:rPr dirty="0" sz="1800">
                <a:latin typeface="Times New Roman"/>
                <a:cs typeface="Times New Roman"/>
              </a:rPr>
              <a:t>partie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 préceptes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permettant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l’agilité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développement,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instanciation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partielle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de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mettant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l’accent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l’optimisation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l’efficience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terrain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modèle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théorique.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55"/>
              </a:spcBef>
              <a:buClr>
                <a:srgbClr val="3366C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algn="just" lvl="1" marL="2300605" marR="334645" indent="-287020">
              <a:lnSpc>
                <a:spcPct val="100000"/>
              </a:lnSpc>
              <a:buFont typeface="Arial MT"/>
              <a:buChar char="•"/>
              <a:tabLst>
                <a:tab pos="2300605" algn="l"/>
              </a:tabLst>
            </a:pP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2TUP</a:t>
            </a:r>
            <a:r>
              <a:rPr dirty="0" sz="1800" spc="4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1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Two</a:t>
            </a:r>
            <a:r>
              <a:rPr dirty="0" sz="1800" spc="114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Tracks</a:t>
            </a:r>
            <a:r>
              <a:rPr dirty="0" sz="1800" spc="1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Unified</a:t>
            </a:r>
            <a:r>
              <a:rPr dirty="0" sz="1800" spc="1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</a:t>
            </a:r>
            <a:r>
              <a:rPr dirty="0" sz="1800" spc="1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1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Instanciation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proposé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Valtech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prenant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en </a:t>
            </a:r>
            <a:r>
              <a:rPr dirty="0" sz="1800">
                <a:latin typeface="Times New Roman"/>
                <a:cs typeface="Times New Roman"/>
              </a:rPr>
              <a:t>compte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4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aléas</a:t>
            </a:r>
            <a:r>
              <a:rPr dirty="0" sz="1800" spc="4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contraintes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liées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aux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changements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perpétuels</a:t>
            </a:r>
            <a:r>
              <a:rPr dirty="0" sz="1800" spc="4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rapides</a:t>
            </a:r>
            <a:r>
              <a:rPr dirty="0" sz="1800" spc="4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4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des </a:t>
            </a:r>
            <a:r>
              <a:rPr dirty="0" sz="1800" spc="-10">
                <a:latin typeface="Times New Roman"/>
                <a:cs typeface="Times New Roman"/>
              </a:rPr>
              <a:t>entreprises.</a:t>
            </a:r>
            <a:endParaRPr sz="1800">
              <a:latin typeface="Times New Roman"/>
              <a:cs typeface="Times New Roman"/>
            </a:endParaRPr>
          </a:p>
          <a:p>
            <a:pPr algn="just" lvl="1" marL="2299335" marR="335280" indent="-285750">
              <a:lnSpc>
                <a:spcPct val="100000"/>
              </a:lnSpc>
              <a:buFont typeface="Arial MT"/>
              <a:buChar char="•"/>
              <a:tabLst>
                <a:tab pos="2300605" algn="l"/>
              </a:tabLst>
            </a:pP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EssUP</a:t>
            </a:r>
            <a:r>
              <a:rPr dirty="0" sz="1800" spc="13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:</a:t>
            </a:r>
            <a:r>
              <a:rPr dirty="0" sz="1800" spc="229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Essential</a:t>
            </a:r>
            <a:r>
              <a:rPr dirty="0" sz="1800" spc="229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unified</a:t>
            </a:r>
            <a:r>
              <a:rPr dirty="0" sz="1800" spc="2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</a:t>
            </a:r>
            <a:r>
              <a:rPr dirty="0" sz="1800" spc="21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(Ivar</a:t>
            </a:r>
            <a:r>
              <a:rPr dirty="0" sz="1800" spc="2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Jacobson)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propose</a:t>
            </a:r>
            <a:r>
              <a:rPr dirty="0" sz="1800" spc="2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mouture</a:t>
            </a:r>
            <a:r>
              <a:rPr dirty="0" sz="1800" spc="22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integrant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certains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concepts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méthodes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Agile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ProcessImprovement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(intégration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prévue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aux </a:t>
            </a:r>
            <a:r>
              <a:rPr dirty="0" sz="1800" spc="-25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outils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travail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collaboratifs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“Visual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Studio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Team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System”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Microsoft).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14"/>
              <a:t>Principes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34923" y="2439415"/>
            <a:ext cx="7218045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Il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n'existe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9B908"/>
                </a:solidFill>
                <a:latin typeface="Times New Roman"/>
                <a:cs typeface="Times New Roman"/>
              </a:rPr>
              <a:t>un</a:t>
            </a:r>
            <a:r>
              <a:rPr dirty="0" sz="1800" spc="-30">
                <a:solidFill>
                  <a:srgbClr val="E9B908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E9B908"/>
                </a:solidFill>
                <a:latin typeface="Times New Roman"/>
                <a:cs typeface="Times New Roman"/>
              </a:rPr>
              <a:t>seul</a:t>
            </a:r>
            <a:r>
              <a:rPr dirty="0" sz="1800" spc="-30">
                <a:solidFill>
                  <a:srgbClr val="E9B908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ni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standard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05104" indent="-136525">
              <a:lnSpc>
                <a:spcPct val="100000"/>
              </a:lnSpc>
              <a:buChar char="•"/>
              <a:tabLst>
                <a:tab pos="205104" algn="l"/>
              </a:tabLst>
            </a:pPr>
            <a:r>
              <a:rPr dirty="0" sz="1800">
                <a:latin typeface="Times New Roman"/>
                <a:cs typeface="Times New Roman"/>
              </a:rPr>
              <a:t>CEPENDANT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caractéristiques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essentielles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peuvent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être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mises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avant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Char char="–"/>
              <a:tabLst>
                <a:tab pos="182880" algn="l"/>
              </a:tabLst>
            </a:pPr>
            <a:r>
              <a:rPr dirty="0" sz="1800">
                <a:latin typeface="Times New Roman"/>
                <a:cs typeface="Times New Roman"/>
              </a:rPr>
              <a:t>Pilotage par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d'utilisation</a:t>
            </a:r>
            <a:endParaRPr sz="180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Char char="–"/>
              <a:tabLst>
                <a:tab pos="182880" algn="l"/>
              </a:tabLst>
            </a:pPr>
            <a:r>
              <a:rPr dirty="0" sz="1800">
                <a:latin typeface="Times New Roman"/>
                <a:cs typeface="Times New Roman"/>
              </a:rPr>
              <a:t>Focalisation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l'architecture</a:t>
            </a:r>
            <a:endParaRPr sz="1800">
              <a:latin typeface="Times New Roman"/>
              <a:cs typeface="Times New Roman"/>
            </a:endParaRPr>
          </a:p>
          <a:p>
            <a:pPr marL="182880" indent="-170180">
              <a:lnSpc>
                <a:spcPct val="100000"/>
              </a:lnSpc>
              <a:buChar char="–"/>
              <a:tabLst>
                <a:tab pos="182880" algn="l"/>
              </a:tabLst>
            </a:pPr>
            <a:r>
              <a:rPr dirty="0" sz="1800">
                <a:latin typeface="Times New Roman"/>
                <a:cs typeface="Times New Roman"/>
              </a:rPr>
              <a:t>Utilisation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«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patrons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»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conception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(Design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Patterns)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Déroulement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itératif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incrémental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35890" indent="-123189">
              <a:lnSpc>
                <a:spcPct val="100000"/>
              </a:lnSpc>
              <a:buChar char="•"/>
              <a:tabLst>
                <a:tab pos="135890" algn="l"/>
              </a:tabLst>
            </a:pPr>
            <a:r>
              <a:rPr dirty="0" sz="1800">
                <a:latin typeface="Times New Roman"/>
                <a:cs typeface="Times New Roman"/>
              </a:rPr>
              <a:t>Accent mis sur les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F8D347"/>
                </a:solidFill>
                <a:latin typeface="Times New Roman"/>
                <a:cs typeface="Times New Roman"/>
              </a:rPr>
              <a:t>phases</a:t>
            </a:r>
            <a:r>
              <a:rPr dirty="0" sz="1800" spc="-20">
                <a:solidFill>
                  <a:srgbClr val="F8D347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 que sur les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activités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d’analyse,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conception,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…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14"/>
              <a:t>Principes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044064" y="2675635"/>
            <a:ext cx="7825740" cy="277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utilise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langage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UML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création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d’élaboration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logiciel.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fait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intégrante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standard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UML.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Utilisé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 le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orienté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objet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logiciel.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oeuvre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principes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suivants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guidé</a:t>
            </a:r>
            <a:r>
              <a:rPr dirty="0" sz="1800" spc="-1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par</a:t>
            </a:r>
            <a:r>
              <a:rPr dirty="0" sz="1800" spc="-55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les</a:t>
            </a:r>
            <a:r>
              <a:rPr dirty="0" sz="1800" spc="-1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cas</a:t>
            </a:r>
            <a:r>
              <a:rPr dirty="0" sz="1800" spc="-2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3366C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-10">
                <a:solidFill>
                  <a:srgbClr val="3366CC"/>
                </a:solidFill>
                <a:latin typeface="Times New Roman"/>
                <a:cs typeface="Times New Roman"/>
              </a:rPr>
              <a:t>,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itératif</a:t>
            </a:r>
            <a:r>
              <a:rPr dirty="0" sz="1800" spc="-5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et</a:t>
            </a:r>
            <a:r>
              <a:rPr dirty="0" sz="1800" spc="-35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3366CC"/>
                </a:solidFill>
                <a:latin typeface="Times New Roman"/>
                <a:cs typeface="Times New Roman"/>
              </a:rPr>
              <a:t>incrémental</a:t>
            </a:r>
            <a:r>
              <a:rPr dirty="0" sz="1800" spc="-10">
                <a:solidFill>
                  <a:srgbClr val="3366CC"/>
                </a:solidFill>
                <a:latin typeface="Times New Roman"/>
                <a:cs typeface="Times New Roman"/>
              </a:rPr>
              <a:t>,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centré</a:t>
            </a:r>
            <a:r>
              <a:rPr dirty="0" sz="1800" spc="-45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sur</a:t>
            </a:r>
            <a:r>
              <a:rPr dirty="0" sz="1800" spc="-7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3366CC"/>
                </a:solidFill>
                <a:latin typeface="Times New Roman"/>
                <a:cs typeface="Times New Roman"/>
              </a:rPr>
              <a:t>l’architecture</a:t>
            </a:r>
            <a:r>
              <a:rPr dirty="0" sz="1800" spc="-10">
                <a:solidFill>
                  <a:srgbClr val="3366CC"/>
                </a:solidFill>
                <a:latin typeface="Times New Roman"/>
                <a:cs typeface="Times New Roman"/>
              </a:rPr>
              <a:t>,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orienté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réduction</a:t>
            </a:r>
            <a:r>
              <a:rPr dirty="0" sz="1800" spc="-25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3366CC"/>
                </a:solidFill>
                <a:latin typeface="Times New Roman"/>
                <a:cs typeface="Times New Roman"/>
              </a:rPr>
              <a:t>des</a:t>
            </a:r>
            <a:r>
              <a:rPr dirty="0" sz="1800" spc="-40" b="1">
                <a:solidFill>
                  <a:srgbClr val="3366CC"/>
                </a:solidFill>
                <a:latin typeface="Times New Roman"/>
                <a:cs typeface="Times New Roman"/>
              </a:rPr>
              <a:t> </a:t>
            </a:r>
            <a:r>
              <a:rPr dirty="0" sz="1800" spc="-10" b="1">
                <a:solidFill>
                  <a:srgbClr val="3366CC"/>
                </a:solidFill>
                <a:latin typeface="Times New Roman"/>
                <a:cs typeface="Times New Roman"/>
              </a:rPr>
              <a:t>risques</a:t>
            </a:r>
            <a:r>
              <a:rPr dirty="0" sz="1800" spc="-10"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14"/>
              <a:t>Principes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2088133"/>
            <a:ext cx="11955145" cy="4771390"/>
            <a:chOff x="833" y="2088133"/>
            <a:chExt cx="11955145" cy="4771390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69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59226" y="2088133"/>
              <a:ext cx="8996172" cy="476986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14"/>
              <a:t>Principes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84556" rIns="0" bIns="0" rtlCol="0" vert="horz">
            <a:spAutoFit/>
          </a:bodyPr>
          <a:lstStyle/>
          <a:p>
            <a:pPr marL="61912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19125" algn="l"/>
              </a:tabLst>
            </a:pPr>
            <a:r>
              <a:rPr dirty="0"/>
              <a:t>Considérer</a:t>
            </a:r>
            <a:r>
              <a:rPr dirty="0" spc="-15"/>
              <a:t> </a:t>
            </a:r>
            <a:r>
              <a:rPr dirty="0"/>
              <a:t>un</a:t>
            </a:r>
            <a:r>
              <a:rPr dirty="0" spc="-15"/>
              <a:t> </a:t>
            </a:r>
            <a:r>
              <a:rPr dirty="0"/>
              <a:t>produit</a:t>
            </a:r>
            <a:r>
              <a:rPr dirty="0" spc="-5"/>
              <a:t> </a:t>
            </a:r>
            <a:r>
              <a:rPr dirty="0"/>
              <a:t>logiciel</a:t>
            </a:r>
            <a:r>
              <a:rPr dirty="0" spc="-20"/>
              <a:t> </a:t>
            </a:r>
            <a:r>
              <a:rPr dirty="0"/>
              <a:t>quelconque</a:t>
            </a:r>
            <a:r>
              <a:rPr dirty="0" spc="-20"/>
              <a:t> </a:t>
            </a:r>
            <a:r>
              <a:rPr dirty="0"/>
              <a:t>par rapport</a:t>
            </a:r>
            <a:r>
              <a:rPr dirty="0" spc="-10"/>
              <a:t> </a:t>
            </a:r>
            <a:r>
              <a:rPr dirty="0"/>
              <a:t>à ses </a:t>
            </a:r>
            <a:r>
              <a:rPr dirty="0" spc="-10"/>
              <a:t>versions</a:t>
            </a:r>
          </a:p>
          <a:p>
            <a:pPr marL="61912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619125" algn="l"/>
              </a:tabLst>
            </a:pPr>
            <a:r>
              <a:rPr dirty="0"/>
              <a:t>un</a:t>
            </a:r>
            <a:r>
              <a:rPr dirty="0" spc="-20"/>
              <a:t> </a:t>
            </a:r>
            <a:r>
              <a:rPr dirty="0"/>
              <a:t>cycle</a:t>
            </a:r>
            <a:r>
              <a:rPr dirty="0" spc="-35"/>
              <a:t> </a:t>
            </a:r>
            <a:r>
              <a:rPr dirty="0"/>
              <a:t>produit/</a:t>
            </a:r>
            <a:r>
              <a:rPr dirty="0" spc="-25"/>
              <a:t> </a:t>
            </a:r>
            <a:r>
              <a:rPr dirty="0"/>
              <a:t>une</a:t>
            </a:r>
            <a:r>
              <a:rPr dirty="0" spc="-5"/>
              <a:t> </a:t>
            </a:r>
            <a:r>
              <a:rPr dirty="0" spc="-10"/>
              <a:t>version</a:t>
            </a:r>
          </a:p>
          <a:p>
            <a:pPr marL="619125" marR="771525" indent="-287020">
              <a:lnSpc>
                <a:spcPct val="100000"/>
              </a:lnSpc>
              <a:buFont typeface="Arial MT"/>
              <a:buChar char="•"/>
              <a:tabLst>
                <a:tab pos="619125" algn="l"/>
              </a:tabLst>
            </a:pPr>
            <a:r>
              <a:rPr dirty="0"/>
              <a:t>Gérer</a:t>
            </a:r>
            <a:r>
              <a:rPr dirty="0" spc="-40"/>
              <a:t> </a:t>
            </a:r>
            <a:r>
              <a:rPr dirty="0"/>
              <a:t>chaque</a:t>
            </a:r>
            <a:r>
              <a:rPr dirty="0" spc="-35"/>
              <a:t> </a:t>
            </a:r>
            <a:r>
              <a:rPr dirty="0"/>
              <a:t>cycle</a:t>
            </a:r>
            <a:r>
              <a:rPr dirty="0" spc="-7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/>
              <a:t>développement</a:t>
            </a:r>
            <a:r>
              <a:rPr dirty="0" spc="-50"/>
              <a:t> </a:t>
            </a:r>
            <a:r>
              <a:rPr dirty="0"/>
              <a:t>comme</a:t>
            </a:r>
            <a:r>
              <a:rPr dirty="0" spc="-30"/>
              <a:t> </a:t>
            </a:r>
            <a:r>
              <a:rPr dirty="0"/>
              <a:t>un</a:t>
            </a:r>
            <a:r>
              <a:rPr dirty="0" spc="-40"/>
              <a:t> </a:t>
            </a:r>
            <a:r>
              <a:rPr dirty="0"/>
              <a:t>projet</a:t>
            </a:r>
            <a:r>
              <a:rPr dirty="0" spc="-50"/>
              <a:t> </a:t>
            </a:r>
            <a:r>
              <a:rPr dirty="0"/>
              <a:t>ayant</a:t>
            </a:r>
            <a:r>
              <a:rPr dirty="0" spc="-60"/>
              <a:t> </a:t>
            </a:r>
            <a:r>
              <a:rPr dirty="0"/>
              <a:t>quatre</a:t>
            </a:r>
            <a:r>
              <a:rPr dirty="0" spc="-50"/>
              <a:t> </a:t>
            </a:r>
            <a:r>
              <a:rPr dirty="0"/>
              <a:t>phases</a:t>
            </a:r>
            <a:r>
              <a:rPr dirty="0" spc="-35"/>
              <a:t> </a:t>
            </a:r>
            <a:r>
              <a:rPr dirty="0"/>
              <a:t>vue</a:t>
            </a:r>
            <a:r>
              <a:rPr dirty="0" spc="-35"/>
              <a:t> </a:t>
            </a:r>
            <a:r>
              <a:rPr dirty="0" spc="-10"/>
              <a:t>gestionnaire (manager)</a:t>
            </a:r>
          </a:p>
          <a:p>
            <a:pPr marL="619125" indent="-286385">
              <a:lnSpc>
                <a:spcPct val="100000"/>
              </a:lnSpc>
              <a:buFont typeface="Arial MT"/>
              <a:buChar char="•"/>
              <a:tabLst>
                <a:tab pos="619125" algn="l"/>
              </a:tabLst>
            </a:pPr>
            <a:r>
              <a:rPr dirty="0"/>
              <a:t>chaque</a:t>
            </a:r>
            <a:r>
              <a:rPr dirty="0" spc="-45"/>
              <a:t> </a:t>
            </a:r>
            <a:r>
              <a:rPr dirty="0"/>
              <a:t>phase</a:t>
            </a:r>
            <a:r>
              <a:rPr dirty="0" spc="-25"/>
              <a:t> </a:t>
            </a:r>
            <a:r>
              <a:rPr dirty="0"/>
              <a:t>se</a:t>
            </a:r>
            <a:r>
              <a:rPr dirty="0" spc="-40"/>
              <a:t> </a:t>
            </a:r>
            <a:r>
              <a:rPr dirty="0"/>
              <a:t>termine</a:t>
            </a:r>
            <a:r>
              <a:rPr dirty="0" spc="-30"/>
              <a:t> </a:t>
            </a:r>
            <a:r>
              <a:rPr dirty="0"/>
              <a:t>par</a:t>
            </a:r>
            <a:r>
              <a:rPr dirty="0" spc="-35"/>
              <a:t> </a:t>
            </a:r>
            <a:r>
              <a:rPr dirty="0"/>
              <a:t>un</a:t>
            </a:r>
            <a:r>
              <a:rPr dirty="0" spc="-30"/>
              <a:t> </a:t>
            </a:r>
            <a:r>
              <a:rPr dirty="0"/>
              <a:t>point</a:t>
            </a:r>
            <a:r>
              <a:rPr dirty="0" spc="-3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/>
              <a:t>contrôle</a:t>
            </a:r>
            <a:r>
              <a:rPr dirty="0" spc="-45"/>
              <a:t> </a:t>
            </a:r>
            <a:r>
              <a:rPr dirty="0"/>
              <a:t>(ou</a:t>
            </a:r>
            <a:r>
              <a:rPr dirty="0" spc="-25"/>
              <a:t> </a:t>
            </a:r>
            <a:r>
              <a:rPr dirty="0"/>
              <a:t>jalon)</a:t>
            </a:r>
            <a:r>
              <a:rPr dirty="0" spc="-30"/>
              <a:t> </a:t>
            </a:r>
            <a:r>
              <a:rPr dirty="0"/>
              <a:t>permettant</a:t>
            </a:r>
            <a:r>
              <a:rPr dirty="0" spc="-45"/>
              <a:t> </a:t>
            </a:r>
            <a:r>
              <a:rPr dirty="0"/>
              <a:t>aux</a:t>
            </a:r>
            <a:r>
              <a:rPr dirty="0" spc="-30"/>
              <a:t> </a:t>
            </a:r>
            <a:r>
              <a:rPr dirty="0"/>
              <a:t>chefs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projet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prendre</a:t>
            </a:r>
          </a:p>
          <a:p>
            <a:pPr marL="619125">
              <a:lnSpc>
                <a:spcPct val="100000"/>
              </a:lnSpc>
            </a:pPr>
            <a:r>
              <a:rPr dirty="0"/>
              <a:t>des</a:t>
            </a:r>
            <a:r>
              <a:rPr dirty="0" spc="-10"/>
              <a:t> décisions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30"/>
              <a:t>Artefacts</a:t>
            </a:r>
            <a:r>
              <a:rPr dirty="0" sz="4400" spc="-240"/>
              <a:t> </a:t>
            </a:r>
            <a:r>
              <a:rPr dirty="0" sz="4400" spc="-114"/>
              <a:t>d’un</a:t>
            </a:r>
            <a:r>
              <a:rPr dirty="0" sz="4400" spc="-165"/>
              <a:t> </a:t>
            </a:r>
            <a:r>
              <a:rPr dirty="0" sz="4400" spc="-35"/>
              <a:t>projet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52855" marR="508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Tout</a:t>
            </a:r>
            <a:r>
              <a:rPr dirty="0" spc="-50"/>
              <a:t> </a:t>
            </a:r>
            <a:r>
              <a:rPr dirty="0"/>
              <a:t>élément</a:t>
            </a:r>
            <a:r>
              <a:rPr dirty="0" spc="-30"/>
              <a:t> </a:t>
            </a:r>
            <a:r>
              <a:rPr dirty="0"/>
              <a:t>d'information</a:t>
            </a:r>
            <a:r>
              <a:rPr dirty="0" spc="-55"/>
              <a:t> </a:t>
            </a:r>
            <a:r>
              <a:rPr dirty="0"/>
              <a:t>utilisé</a:t>
            </a:r>
            <a:r>
              <a:rPr dirty="0" spc="-50"/>
              <a:t> </a:t>
            </a:r>
            <a:r>
              <a:rPr dirty="0"/>
              <a:t>ou</a:t>
            </a:r>
            <a:r>
              <a:rPr dirty="0" spc="-40"/>
              <a:t> </a:t>
            </a:r>
            <a:r>
              <a:rPr dirty="0"/>
              <a:t>généré</a:t>
            </a:r>
            <a:r>
              <a:rPr dirty="0" spc="-35"/>
              <a:t> </a:t>
            </a:r>
            <a:r>
              <a:rPr dirty="0"/>
              <a:t>pendant</a:t>
            </a:r>
            <a:r>
              <a:rPr dirty="0" spc="-45"/>
              <a:t> </a:t>
            </a:r>
            <a:r>
              <a:rPr dirty="0"/>
              <a:t>un</a:t>
            </a:r>
            <a:r>
              <a:rPr dirty="0" spc="-35"/>
              <a:t> </a:t>
            </a:r>
            <a:r>
              <a:rPr dirty="0"/>
              <a:t>cycle</a:t>
            </a:r>
            <a:r>
              <a:rPr dirty="0" spc="-70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/>
              <a:t>développement</a:t>
            </a:r>
            <a:r>
              <a:rPr dirty="0" spc="-45"/>
              <a:t> </a:t>
            </a:r>
            <a:r>
              <a:rPr dirty="0"/>
              <a:t>d'un</a:t>
            </a:r>
            <a:r>
              <a:rPr dirty="0" spc="-45"/>
              <a:t> </a:t>
            </a:r>
            <a:r>
              <a:rPr dirty="0" spc="-10"/>
              <a:t>système logiciel: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morceau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20"/>
              <a:t>code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 spc="-10"/>
              <a:t>commentaire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spécification</a:t>
            </a:r>
            <a:r>
              <a:rPr dirty="0" spc="-80"/>
              <a:t> </a:t>
            </a:r>
            <a:r>
              <a:rPr dirty="0"/>
              <a:t>statique</a:t>
            </a:r>
            <a:r>
              <a:rPr dirty="0" spc="-55"/>
              <a:t> </a:t>
            </a:r>
            <a:r>
              <a:rPr dirty="0"/>
              <a:t>d'une</a:t>
            </a:r>
            <a:r>
              <a:rPr dirty="0" spc="-45"/>
              <a:t> </a:t>
            </a:r>
            <a:r>
              <a:rPr dirty="0" spc="-10"/>
              <a:t>classe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spécification</a:t>
            </a:r>
            <a:r>
              <a:rPr dirty="0" spc="-55"/>
              <a:t> </a:t>
            </a:r>
            <a:r>
              <a:rPr dirty="0" spc="-10"/>
              <a:t>comportementale</a:t>
            </a:r>
            <a:r>
              <a:rPr dirty="0" spc="-30"/>
              <a:t> </a:t>
            </a:r>
            <a:r>
              <a:rPr dirty="0"/>
              <a:t>d'une</a:t>
            </a:r>
            <a:r>
              <a:rPr dirty="0" spc="-15"/>
              <a:t> </a:t>
            </a:r>
            <a:r>
              <a:rPr dirty="0" spc="-10"/>
              <a:t>classe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jeu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test,</a:t>
            </a:r>
            <a:r>
              <a:rPr dirty="0" spc="-35"/>
              <a:t> </a:t>
            </a:r>
            <a:r>
              <a:rPr dirty="0"/>
              <a:t>programme</a:t>
            </a:r>
            <a:r>
              <a:rPr dirty="0" spc="-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test,</a:t>
            </a:r>
            <a:r>
              <a:rPr dirty="0" spc="-40"/>
              <a:t> </a:t>
            </a:r>
            <a:r>
              <a:rPr dirty="0"/>
              <a:t>interview</a:t>
            </a:r>
            <a:r>
              <a:rPr dirty="0" spc="-50"/>
              <a:t> </a:t>
            </a:r>
            <a:r>
              <a:rPr dirty="0"/>
              <a:t>d'un</a:t>
            </a:r>
            <a:r>
              <a:rPr dirty="0" spc="-30"/>
              <a:t> </a:t>
            </a:r>
            <a:r>
              <a:rPr dirty="0"/>
              <a:t>utilisateur</a:t>
            </a:r>
            <a:r>
              <a:rPr dirty="0" spc="-50"/>
              <a:t> </a:t>
            </a:r>
            <a:r>
              <a:rPr dirty="0"/>
              <a:t>potentiel</a:t>
            </a:r>
            <a:r>
              <a:rPr dirty="0" spc="-35"/>
              <a:t> </a:t>
            </a:r>
            <a:r>
              <a:rPr dirty="0"/>
              <a:t>du</a:t>
            </a:r>
            <a:r>
              <a:rPr dirty="0" spc="-35"/>
              <a:t> </a:t>
            </a:r>
            <a:r>
              <a:rPr dirty="0" spc="-10"/>
              <a:t>système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description</a:t>
            </a:r>
            <a:r>
              <a:rPr dirty="0" spc="-55"/>
              <a:t> </a:t>
            </a:r>
            <a:r>
              <a:rPr dirty="0"/>
              <a:t>du</a:t>
            </a:r>
            <a:r>
              <a:rPr dirty="0" spc="-40"/>
              <a:t> </a:t>
            </a:r>
            <a:r>
              <a:rPr dirty="0"/>
              <a:t>contexte</a:t>
            </a:r>
            <a:r>
              <a:rPr dirty="0" spc="-50"/>
              <a:t> </a:t>
            </a:r>
            <a:r>
              <a:rPr dirty="0"/>
              <a:t>d'installation</a:t>
            </a:r>
            <a:r>
              <a:rPr dirty="0" spc="-70"/>
              <a:t> </a:t>
            </a:r>
            <a:r>
              <a:rPr dirty="0" spc="-10"/>
              <a:t>matériel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diagramme</a:t>
            </a:r>
            <a:r>
              <a:rPr dirty="0" spc="-20"/>
              <a:t> </a:t>
            </a:r>
            <a:r>
              <a:rPr dirty="0"/>
              <a:t>d'une</a:t>
            </a:r>
            <a:r>
              <a:rPr dirty="0" spc="-10"/>
              <a:t> </a:t>
            </a:r>
            <a:r>
              <a:rPr dirty="0"/>
              <a:t>architecture</a:t>
            </a:r>
            <a:r>
              <a:rPr dirty="0" spc="-35"/>
              <a:t> </a:t>
            </a:r>
            <a:r>
              <a:rPr dirty="0" spc="-10"/>
              <a:t>globale</a:t>
            </a:r>
          </a:p>
          <a:p>
            <a:pPr marL="1539240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539875" algn="l"/>
              </a:tabLst>
            </a:pPr>
            <a:r>
              <a:rPr dirty="0" spc="-10"/>
              <a:t>Prototype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rapport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5"/>
              <a:t> </a:t>
            </a:r>
            <a:r>
              <a:rPr dirty="0" spc="-10"/>
              <a:t>réalisation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modèle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dialogue,</a:t>
            </a:r>
          </a:p>
          <a:p>
            <a:pPr marL="1539240" indent="-286385">
              <a:lnSpc>
                <a:spcPct val="100000"/>
              </a:lnSpc>
              <a:buFont typeface="Arial MT"/>
              <a:buChar char="•"/>
              <a:tabLst>
                <a:tab pos="1539875" algn="l"/>
              </a:tabLst>
            </a:pPr>
            <a:r>
              <a:rPr dirty="0"/>
              <a:t>manuel</a:t>
            </a:r>
            <a:r>
              <a:rPr dirty="0" spc="-40"/>
              <a:t> </a:t>
            </a:r>
            <a:r>
              <a:rPr dirty="0" spc="-10"/>
              <a:t>utilisateur…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130"/>
              <a:t>Avantages</a:t>
            </a:r>
            <a:r>
              <a:rPr dirty="0" sz="4400" spc="-180"/>
              <a:t> </a:t>
            </a:r>
            <a:r>
              <a:rPr dirty="0" sz="4400" spc="-135"/>
              <a:t>d’un</a:t>
            </a:r>
            <a:r>
              <a:rPr dirty="0" sz="4400" spc="-170"/>
              <a:t> </a:t>
            </a:r>
            <a:r>
              <a:rPr dirty="0" sz="4400" spc="-180"/>
              <a:t>processus</a:t>
            </a:r>
            <a:r>
              <a:rPr dirty="0" sz="4400" spc="-125"/>
              <a:t> </a:t>
            </a:r>
            <a:r>
              <a:rPr dirty="0" sz="4400" spc="-30"/>
              <a:t>incrémental</a:t>
            </a:r>
            <a:r>
              <a:rPr dirty="0" sz="4400" spc="-150"/>
              <a:t> </a:t>
            </a:r>
            <a:r>
              <a:rPr dirty="0" sz="4400" spc="-25"/>
              <a:t>et </a:t>
            </a:r>
            <a:r>
              <a:rPr dirty="0" sz="4400" spc="-10"/>
              <a:t>itératif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81659" y="6316471"/>
            <a:ext cx="1936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Franklin Gothic Medium"/>
                <a:cs typeface="Franklin Gothic Medium"/>
              </a:rPr>
              <a:t>18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57220" y="6420306"/>
            <a:ext cx="6097270" cy="278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65"/>
              </a:lnSpc>
              <a:tabLst>
                <a:tab pos="332105" algn="l"/>
              </a:tabLst>
            </a:pPr>
            <a:r>
              <a:rPr dirty="0" sz="1450" spc="-475">
                <a:solidFill>
                  <a:srgbClr val="EFAC00"/>
                </a:solidFill>
                <a:latin typeface="Cambria"/>
                <a:cs typeface="Cambria"/>
              </a:rPr>
              <a:t>◾</a:t>
            </a:r>
            <a:r>
              <a:rPr dirty="0" sz="1450">
                <a:solidFill>
                  <a:srgbClr val="EFAC00"/>
                </a:solidFill>
                <a:latin typeface="Cambria"/>
                <a:cs typeface="Cambria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Mais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gestion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complexe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planification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adaptative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57220" y="1785874"/>
            <a:ext cx="8029575" cy="463550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30"/>
              </a:spcBef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>
                <a:latin typeface="Times New Roman"/>
                <a:cs typeface="Times New Roman"/>
              </a:rPr>
              <a:t>Gestion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10">
                <a:latin typeface="Times New Roman"/>
                <a:cs typeface="Times New Roman"/>
              </a:rPr>
              <a:t> complexité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0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pas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même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temps,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étalement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décisions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importantes</a:t>
            </a:r>
            <a:endParaRPr sz="1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>
                <a:latin typeface="Times New Roman"/>
                <a:cs typeface="Times New Roman"/>
              </a:rPr>
              <a:t>Maîtrise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risques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élevés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précoce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diminution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0">
                <a:latin typeface="Times New Roman"/>
                <a:cs typeface="Times New Roman"/>
              </a:rPr>
              <a:t> l’échec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l’épreuve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rapidement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(prototype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réel)</a:t>
            </a:r>
            <a:endParaRPr sz="1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>
                <a:latin typeface="Times New Roman"/>
                <a:cs typeface="Times New Roman"/>
              </a:rPr>
              <a:t>Intégration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continue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0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progrès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immédiatement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visibles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maintien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l’intérêt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équipes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(court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terme,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prototypes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documents)</a:t>
            </a:r>
            <a:endParaRPr sz="1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>
                <a:latin typeface="Times New Roman"/>
                <a:cs typeface="Times New Roman"/>
              </a:rPr>
              <a:t>Prise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compte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modifications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 </a:t>
            </a:r>
            <a:r>
              <a:rPr dirty="0" sz="1800" spc="-10">
                <a:latin typeface="Times New Roman"/>
                <a:cs typeface="Times New Roman"/>
              </a:rPr>
              <a:t>besoins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0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feedback,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implication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utilisateurs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adaptation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précoce</a:t>
            </a:r>
            <a:endParaRPr sz="1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>
                <a:latin typeface="Times New Roman"/>
                <a:cs typeface="Times New Roman"/>
              </a:rPr>
              <a:t>Apprentissage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méthode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amélioration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productivité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qualité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logiciel</a:t>
            </a:r>
            <a:endParaRPr sz="1800">
              <a:latin typeface="Times New Roman"/>
              <a:cs typeface="Times New Roman"/>
            </a:endParaRPr>
          </a:p>
          <a:p>
            <a:pPr marL="332105" indent="-319405">
              <a:lnSpc>
                <a:spcPct val="100000"/>
              </a:lnSpc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>
                <a:latin typeface="Times New Roman"/>
                <a:cs typeface="Times New Roman"/>
              </a:rPr>
              <a:t>Adaptation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méthode</a:t>
            </a:r>
            <a:endParaRPr sz="1800">
              <a:latin typeface="Times New Roman"/>
              <a:cs typeface="Times New Roman"/>
            </a:endParaRPr>
          </a:p>
          <a:p>
            <a:pPr lvl="1" marL="624840" marR="508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possibilité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d'explorer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méthodiquement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leçons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tirées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d'une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(élément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à </a:t>
            </a:r>
            <a:r>
              <a:rPr dirty="0" sz="1800" spc="-10">
                <a:latin typeface="Times New Roman"/>
                <a:cs typeface="Times New Roman"/>
              </a:rPr>
              <a:t>conserver,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problèmes,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éléments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essayer…)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546862"/>
            <a:ext cx="4679950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25"/>
              <a:t>Caractéristiques: </a:t>
            </a:r>
            <a:r>
              <a:rPr dirty="0" sz="4400"/>
              <a:t>piloté</a:t>
            </a:r>
            <a:r>
              <a:rPr dirty="0" sz="4400" spc="-305"/>
              <a:t> </a:t>
            </a:r>
            <a:r>
              <a:rPr dirty="0" sz="4400" spc="-20"/>
              <a:t>par</a:t>
            </a:r>
            <a:r>
              <a:rPr dirty="0" sz="4400" spc="-165"/>
              <a:t> </a:t>
            </a:r>
            <a:r>
              <a:rPr dirty="0" sz="4400" spc="-320"/>
              <a:t>CU</a:t>
            </a:r>
            <a:r>
              <a:rPr dirty="0" sz="4400" spc="15"/>
              <a:t> </a:t>
            </a:r>
            <a:r>
              <a:rPr dirty="0" sz="4400" spc="-130"/>
              <a:t>UML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251075" y="2447290"/>
            <a:ext cx="939736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635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L’orientation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forte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donnée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ici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par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UP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montrer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construire</a:t>
            </a:r>
            <a:r>
              <a:rPr dirty="0" sz="1800" spc="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définit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d’abord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avec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utilisateurs.</a:t>
            </a:r>
            <a:r>
              <a:rPr dirty="0" sz="1800" spc="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6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6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permettent</a:t>
            </a:r>
            <a:r>
              <a:rPr dirty="0" sz="1800" spc="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d’exprimer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interactions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avec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utilisateurs,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donc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capturer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besoins.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4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seconde</a:t>
            </a:r>
            <a:r>
              <a:rPr dirty="0" sz="1800" spc="4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orientation</a:t>
            </a:r>
            <a:r>
              <a:rPr dirty="0" sz="1800" spc="4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4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4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montrer</a:t>
            </a:r>
            <a:r>
              <a:rPr dirty="0" sz="1800" spc="409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comment</a:t>
            </a:r>
            <a:r>
              <a:rPr dirty="0" sz="1800" spc="4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4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4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4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constituent</a:t>
            </a:r>
            <a:r>
              <a:rPr dirty="0" sz="1800" spc="4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</a:t>
            </a:r>
            <a:r>
              <a:rPr dirty="0" sz="1800" spc="4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vecteur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structurant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développement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tests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système.</a:t>
            </a:r>
            <a:r>
              <a:rPr dirty="0" sz="1800" spc="3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Ainsi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développement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peut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se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décomposer</a:t>
            </a:r>
            <a:r>
              <a:rPr dirty="0" sz="1800" spc="459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par</a:t>
            </a:r>
            <a:r>
              <a:rPr dirty="0" sz="1800" spc="4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459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4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4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4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réception</a:t>
            </a:r>
            <a:r>
              <a:rPr dirty="0" sz="1800" spc="4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4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logiciel</a:t>
            </a:r>
            <a:r>
              <a:rPr dirty="0" sz="1800" spc="459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sera</a:t>
            </a:r>
            <a:r>
              <a:rPr dirty="0" sz="1800" spc="459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elle</a:t>
            </a:r>
            <a:r>
              <a:rPr dirty="0" sz="1800" spc="4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aussi</a:t>
            </a:r>
            <a:r>
              <a:rPr dirty="0" sz="1800" spc="4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articulée</a:t>
            </a:r>
            <a:r>
              <a:rPr dirty="0" sz="1800" spc="459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par</a:t>
            </a:r>
            <a:r>
              <a:rPr dirty="0" sz="1800" spc="4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cas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d’utilisation.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546862"/>
            <a:ext cx="4679950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25"/>
              <a:t>Caractéristiques: </a:t>
            </a:r>
            <a:r>
              <a:rPr dirty="0" sz="4400"/>
              <a:t>piloté</a:t>
            </a:r>
            <a:r>
              <a:rPr dirty="0" sz="4400" spc="-305"/>
              <a:t> </a:t>
            </a:r>
            <a:r>
              <a:rPr dirty="0" sz="4400" spc="-20"/>
              <a:t>par</a:t>
            </a:r>
            <a:r>
              <a:rPr dirty="0" sz="4400" spc="-165"/>
              <a:t> </a:t>
            </a:r>
            <a:r>
              <a:rPr dirty="0" sz="4400" spc="-320"/>
              <a:t>CU</a:t>
            </a:r>
            <a:r>
              <a:rPr dirty="0" sz="4400" spc="15"/>
              <a:t> </a:t>
            </a:r>
            <a:r>
              <a:rPr dirty="0" sz="4400" spc="-130"/>
              <a:t>UML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94054" y="2497658"/>
            <a:ext cx="10396220" cy="34023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11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principal</a:t>
            </a:r>
            <a:r>
              <a:rPr dirty="0" sz="1800" spc="114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10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système</a:t>
            </a:r>
            <a:r>
              <a:rPr dirty="0" sz="1800" spc="10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d’informatique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10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satisfaire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10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besoins</a:t>
            </a:r>
            <a:r>
              <a:rPr dirty="0" sz="1800" spc="10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client.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105">
                <a:latin typeface="Times New Roman"/>
                <a:cs typeface="Times New Roman"/>
              </a:rPr>
              <a:t>  </a:t>
            </a:r>
            <a:r>
              <a:rPr dirty="0" sz="1800" spc="-25">
                <a:latin typeface="Times New Roman"/>
                <a:cs typeface="Times New Roman"/>
              </a:rPr>
              <a:t>de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sera</a:t>
            </a:r>
            <a:r>
              <a:rPr dirty="0" sz="1800" spc="3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donc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accès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sur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l’utilisateur.</a:t>
            </a:r>
            <a:r>
              <a:rPr dirty="0" sz="1800" spc="3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d’utilisation</a:t>
            </a:r>
            <a:r>
              <a:rPr dirty="0" sz="1800" spc="3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permettent</a:t>
            </a:r>
            <a:r>
              <a:rPr dirty="0" sz="1800" spc="3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d’illustrer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ces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besoins.</a:t>
            </a:r>
            <a:r>
              <a:rPr dirty="0" sz="1800" spc="37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Ils </a:t>
            </a:r>
            <a:r>
              <a:rPr dirty="0" sz="1800">
                <a:latin typeface="Times New Roman"/>
                <a:cs typeface="Times New Roman"/>
              </a:rPr>
              <a:t>détectent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puis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décrivent</a:t>
            </a:r>
            <a:r>
              <a:rPr dirty="0" sz="1800" spc="20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besoins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fonctionnels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leur</a:t>
            </a:r>
            <a:r>
              <a:rPr dirty="0" sz="1800" spc="1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ensemble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constitue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1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modèle</a:t>
            </a:r>
            <a:r>
              <a:rPr dirty="0" sz="1800" spc="20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d’utilisation</a:t>
            </a:r>
            <a:r>
              <a:rPr dirty="0" sz="1800" spc="19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qui </a:t>
            </a:r>
            <a:r>
              <a:rPr dirty="0" sz="1800">
                <a:latin typeface="Times New Roman"/>
                <a:cs typeface="Times New Roman"/>
              </a:rPr>
              <a:t>dicte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fonctionnalités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complètes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800">
              <a:latin typeface="Times New Roman"/>
              <a:cs typeface="Times New Roman"/>
            </a:endParaRPr>
          </a:p>
          <a:p>
            <a:pPr marL="3449954" indent="-342900">
              <a:lnSpc>
                <a:spcPct val="100000"/>
              </a:lnSpc>
              <a:buFont typeface="Arial MT"/>
              <a:buChar char="•"/>
              <a:tabLst>
                <a:tab pos="3449954" algn="l"/>
              </a:tabLst>
            </a:pP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outil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 spécification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besoins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système.</a:t>
            </a:r>
            <a:endParaRPr sz="1800">
              <a:latin typeface="Times New Roman"/>
              <a:cs typeface="Times New Roman"/>
            </a:endParaRPr>
          </a:p>
          <a:p>
            <a:pPr marL="3449954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449954" algn="l"/>
              </a:tabLst>
            </a:pP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outil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guider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processus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développement.</a:t>
            </a:r>
            <a:endParaRPr sz="1800">
              <a:latin typeface="Times New Roman"/>
              <a:cs typeface="Times New Roman"/>
            </a:endParaRPr>
          </a:p>
          <a:p>
            <a:pPr marL="3449954" indent="-342900">
              <a:lnSpc>
                <a:spcPct val="100000"/>
              </a:lnSpc>
              <a:buFont typeface="Arial MT"/>
              <a:buChar char="•"/>
              <a:tabLst>
                <a:tab pos="3449954" algn="l"/>
              </a:tabLst>
            </a:pP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d’utilisation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sont:</a:t>
            </a:r>
            <a:endParaRPr sz="1800">
              <a:latin typeface="Times New Roman"/>
              <a:cs typeface="Times New Roman"/>
            </a:endParaRPr>
          </a:p>
          <a:p>
            <a:pPr marL="3449954" indent="-342900">
              <a:lnSpc>
                <a:spcPct val="100000"/>
              </a:lnSpc>
              <a:buFont typeface="Arial MT"/>
              <a:buChar char="•"/>
              <a:tabLst>
                <a:tab pos="3449954" algn="l"/>
              </a:tabLst>
            </a:pPr>
            <a:r>
              <a:rPr dirty="0" sz="1800">
                <a:latin typeface="Times New Roman"/>
                <a:cs typeface="Times New Roman"/>
              </a:rPr>
              <a:t>détaillés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l’analyse</a:t>
            </a:r>
            <a:endParaRPr sz="1800">
              <a:latin typeface="Times New Roman"/>
              <a:cs typeface="Times New Roman"/>
            </a:endParaRPr>
          </a:p>
          <a:p>
            <a:pPr lvl="1" marL="3905885" indent="-341630">
              <a:lnSpc>
                <a:spcPct val="100000"/>
              </a:lnSpc>
              <a:buFont typeface="Courier New"/>
              <a:buChar char="o"/>
              <a:tabLst>
                <a:tab pos="3905885" algn="l"/>
              </a:tabLst>
            </a:pPr>
            <a:r>
              <a:rPr dirty="0" sz="1800">
                <a:latin typeface="Times New Roman"/>
                <a:cs typeface="Times New Roman"/>
              </a:rPr>
              <a:t>réalisés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conception</a:t>
            </a:r>
            <a:endParaRPr sz="1800">
              <a:latin typeface="Times New Roman"/>
              <a:cs typeface="Times New Roman"/>
            </a:endParaRPr>
          </a:p>
          <a:p>
            <a:pPr lvl="1" marL="3905885" indent="-341630">
              <a:lnSpc>
                <a:spcPct val="100000"/>
              </a:lnSpc>
              <a:buFont typeface="Courier New"/>
              <a:buChar char="o"/>
              <a:tabLst>
                <a:tab pos="3905885" algn="l"/>
              </a:tabLst>
            </a:pPr>
            <a:r>
              <a:rPr dirty="0" sz="1800">
                <a:latin typeface="Times New Roman"/>
                <a:cs typeface="Times New Roman"/>
              </a:rPr>
              <a:t>concrètement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implémentés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développeurs</a:t>
            </a:r>
            <a:endParaRPr sz="1800">
              <a:latin typeface="Times New Roman"/>
              <a:cs typeface="Times New Roman"/>
            </a:endParaRPr>
          </a:p>
          <a:p>
            <a:pPr lvl="1" marL="3905885" indent="-341630">
              <a:lnSpc>
                <a:spcPct val="100000"/>
              </a:lnSpc>
              <a:buFont typeface="Courier New"/>
              <a:buChar char="o"/>
              <a:tabLst>
                <a:tab pos="3905885" algn="l"/>
              </a:tabLst>
            </a:pPr>
            <a:r>
              <a:rPr dirty="0" sz="1800">
                <a:latin typeface="Times New Roman"/>
                <a:cs typeface="Times New Roman"/>
              </a:rPr>
              <a:t>vérifiés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scénarios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test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546862"/>
            <a:ext cx="4679950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25"/>
              <a:t>Caractéristiques: </a:t>
            </a:r>
            <a:r>
              <a:rPr dirty="0" sz="4400"/>
              <a:t>piloté</a:t>
            </a:r>
            <a:r>
              <a:rPr dirty="0" sz="4400" spc="-305"/>
              <a:t> </a:t>
            </a:r>
            <a:r>
              <a:rPr dirty="0" sz="4400" spc="-20"/>
              <a:t>par</a:t>
            </a:r>
            <a:r>
              <a:rPr dirty="0" sz="4400" spc="-165"/>
              <a:t> </a:t>
            </a:r>
            <a:r>
              <a:rPr dirty="0" sz="4400" spc="-320"/>
              <a:t>CU</a:t>
            </a:r>
            <a:r>
              <a:rPr dirty="0" sz="4400" spc="15"/>
              <a:t> </a:t>
            </a:r>
            <a:r>
              <a:rPr dirty="0" sz="4400" spc="-130"/>
              <a:t>UML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2603563"/>
            <a:ext cx="11638915" cy="4256405"/>
            <a:chOff x="833" y="2603563"/>
            <a:chExt cx="11638915" cy="425640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4663" y="2603563"/>
              <a:ext cx="10144760" cy="351015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6211570" y="655701"/>
            <a:ext cx="584962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Support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entre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utilisateurs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concepteurs.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Assurent la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traçabilité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toute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décision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43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conception.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Fournissent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aux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participants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projet.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9855"/>
            <a:ext cx="4440555" cy="177038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80"/>
              <a:t>Caractèristiques: </a:t>
            </a:r>
            <a:r>
              <a:rPr dirty="0" sz="4400"/>
              <a:t>centré</a:t>
            </a:r>
            <a:r>
              <a:rPr dirty="0" sz="4400" spc="-290"/>
              <a:t> </a:t>
            </a:r>
            <a:r>
              <a:rPr dirty="0" sz="4400" spc="-25"/>
              <a:t>sur </a:t>
            </a:r>
            <a:r>
              <a:rPr dirty="0" sz="4400" spc="-10"/>
              <a:t>l’architecture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520189" y="2401951"/>
            <a:ext cx="772795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décrit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différentes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vues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modèles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système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construire.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représente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aspects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dynamique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statique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membres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4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projet: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émerge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besoins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exprimés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travers</a:t>
            </a:r>
            <a:r>
              <a:rPr dirty="0" sz="1800" spc="4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d’utilisation.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Elle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complète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d’utilisation.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2171192" y="4468114"/>
            <a:ext cx="920813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premier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temps,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choisir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définit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générales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l’application.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Ceci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mène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construction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version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préliminaire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 </a:t>
            </a:r>
            <a:r>
              <a:rPr dirty="0" sz="1800" spc="-10">
                <a:latin typeface="Times New Roman"/>
                <a:cs typeface="Times New Roman"/>
              </a:rPr>
              <a:t>produit.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deuxième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temps,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stabiliser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l’architecture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autour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fonctions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essentielles.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Ceci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mène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construction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3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référence.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troisième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temps,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l’architecture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continue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3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stabiliser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itérations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suivantes.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171192" y="6117437"/>
            <a:ext cx="12953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FFFFFF"/>
                </a:solidFill>
                <a:latin typeface="Times New Roman"/>
                <a:cs typeface="Times New Roman"/>
              </a:rPr>
              <a:t>58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546862"/>
            <a:ext cx="5697855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25"/>
              <a:t>Caractéristiques: </a:t>
            </a:r>
            <a:r>
              <a:rPr dirty="0" sz="4400"/>
              <a:t>itératif</a:t>
            </a:r>
            <a:r>
              <a:rPr dirty="0" sz="4400" spc="254"/>
              <a:t> </a:t>
            </a:r>
            <a:r>
              <a:rPr dirty="0" sz="4400"/>
              <a:t>et</a:t>
            </a:r>
            <a:r>
              <a:rPr dirty="0" sz="4400" spc="260"/>
              <a:t> </a:t>
            </a:r>
            <a:r>
              <a:rPr dirty="0" sz="4400" spc="-45"/>
              <a:t>incrémental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196441" y="2867405"/>
            <a:ext cx="10459085" cy="311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Découper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travail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plusieurs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</a:t>
            </a:r>
            <a:r>
              <a:rPr dirty="0" sz="1800" spc="4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présentent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mini-</a:t>
            </a:r>
            <a:r>
              <a:rPr dirty="0" sz="1800" spc="-10">
                <a:latin typeface="Times New Roman"/>
                <a:cs typeface="Times New Roman"/>
              </a:rPr>
              <a:t>projets.</a:t>
            </a:r>
            <a:endParaRPr sz="1800">
              <a:latin typeface="Times New Roman"/>
              <a:cs typeface="Times New Roman"/>
            </a:endParaRPr>
          </a:p>
          <a:p>
            <a:pPr marL="88265" indent="-79375">
              <a:lnSpc>
                <a:spcPct val="100000"/>
              </a:lnSpc>
              <a:buClr>
                <a:srgbClr val="CC9900"/>
              </a:buClr>
              <a:buSzPct val="38888"/>
              <a:buFont typeface="Wingdings"/>
              <a:buChar char=""/>
              <a:tabLst>
                <a:tab pos="88265" algn="l"/>
              </a:tabLst>
            </a:pP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contient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activités,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conduit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</a:t>
            </a:r>
            <a:r>
              <a:rPr dirty="0" sz="1800" spc="3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certain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nombre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UC.</a:t>
            </a:r>
            <a:endParaRPr sz="1800">
              <a:latin typeface="Times New Roman"/>
              <a:cs typeface="Times New Roman"/>
            </a:endParaRPr>
          </a:p>
          <a:p>
            <a:pPr marL="88265" indent="-79375">
              <a:lnSpc>
                <a:spcPct val="100000"/>
              </a:lnSpc>
              <a:buClr>
                <a:srgbClr val="CC9900"/>
              </a:buClr>
              <a:buSzPct val="38888"/>
              <a:buFont typeface="Wingdings"/>
              <a:buChar char=""/>
              <a:tabLst>
                <a:tab pos="88265" algn="l"/>
              </a:tabLst>
            </a:pP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itérations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donnent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lieu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incrément.</a:t>
            </a:r>
            <a:endParaRPr sz="1800">
              <a:latin typeface="Times New Roman"/>
              <a:cs typeface="Times New Roman"/>
            </a:endParaRPr>
          </a:p>
          <a:p>
            <a:pPr marL="88265" indent="-79375">
              <a:lnSpc>
                <a:spcPct val="100000"/>
              </a:lnSpc>
              <a:buClr>
                <a:srgbClr val="CC9900"/>
              </a:buClr>
              <a:buSzPct val="38888"/>
              <a:buFont typeface="Wingdings"/>
              <a:buChar char=""/>
              <a:tabLst>
                <a:tab pos="88265" algn="l"/>
              </a:tabLst>
            </a:pP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incrément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correspond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avancée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dans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3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différents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stades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développement.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C9900"/>
              </a:buClr>
              <a:buFont typeface="Wingdings"/>
              <a:buChar char=""/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Clr>
                <a:srgbClr val="CC9900"/>
              </a:buClr>
              <a:buFont typeface="Wingdings"/>
              <a:buChar char=""/>
            </a:pPr>
            <a:endParaRPr sz="1800">
              <a:latin typeface="Times New Roman"/>
              <a:cs typeface="Times New Roman"/>
            </a:endParaRPr>
          </a:p>
          <a:p>
            <a:pPr lvl="1" marL="1366520" indent="-286385">
              <a:lnSpc>
                <a:spcPct val="100000"/>
              </a:lnSpc>
              <a:buFont typeface="Arial MT"/>
              <a:buChar char="•"/>
              <a:tabLst>
                <a:tab pos="1366520" algn="l"/>
                <a:tab pos="9222740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découpé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itérations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étapes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courte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durée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permettent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de</a:t>
            </a:r>
            <a:r>
              <a:rPr dirty="0" sz="1800">
                <a:latin typeface="Times New Roman"/>
                <a:cs typeface="Times New Roman"/>
              </a:rPr>
              <a:t>	mieux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suivre</a:t>
            </a:r>
            <a:endParaRPr sz="1800">
              <a:latin typeface="Times New Roman"/>
              <a:cs typeface="Times New Roman"/>
            </a:endParaRPr>
          </a:p>
          <a:p>
            <a:pPr marL="13671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l’avancement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global.</a:t>
            </a:r>
            <a:endParaRPr sz="1800">
              <a:latin typeface="Times New Roman"/>
              <a:cs typeface="Times New Roman"/>
            </a:endParaRPr>
          </a:p>
          <a:p>
            <a:pPr lvl="1" marL="1367155" marR="5080" indent="-287020">
              <a:lnSpc>
                <a:spcPct val="100000"/>
              </a:lnSpc>
              <a:buFont typeface="Arial MT"/>
              <a:buChar char="•"/>
              <a:tabLst>
                <a:tab pos="1367155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3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chaque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itération</a:t>
            </a:r>
            <a:r>
              <a:rPr dirty="0" sz="1800" spc="4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4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partie</a:t>
            </a:r>
            <a:r>
              <a:rPr dirty="0" sz="1800" spc="4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exécutable</a:t>
            </a:r>
            <a:r>
              <a:rPr dirty="0" sz="1800" spc="4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4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système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finale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produite,</a:t>
            </a:r>
            <a:r>
              <a:rPr dirty="0" sz="1800" spc="4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façon </a:t>
            </a:r>
            <a:r>
              <a:rPr dirty="0" sz="1800">
                <a:latin typeface="Times New Roman"/>
                <a:cs typeface="Times New Roman"/>
              </a:rPr>
              <a:t>incrémentale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(par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ajout).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59573" y="1532000"/>
            <a:ext cx="9124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EC0000"/>
                </a:solidFill>
                <a:latin typeface="Franklin Gothic Medium"/>
                <a:cs typeface="Franklin Gothic Medium"/>
              </a:rPr>
              <a:t>Itération</a:t>
            </a:r>
            <a:r>
              <a:rPr dirty="0" sz="1600" spc="-70">
                <a:solidFill>
                  <a:srgbClr val="EC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600" spc="-50">
                <a:solidFill>
                  <a:srgbClr val="EC0000"/>
                </a:solidFill>
                <a:latin typeface="Franklin Gothic Medium"/>
                <a:cs typeface="Franklin Gothic Medium"/>
              </a:rPr>
              <a:t>1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247633" y="1481708"/>
            <a:ext cx="1066800" cy="38100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6223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490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Itération</a:t>
            </a:r>
            <a:r>
              <a:rPr dirty="0" sz="1600" spc="-7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393428" y="1532000"/>
            <a:ext cx="91249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EC0000"/>
                </a:solidFill>
                <a:latin typeface="Franklin Gothic Medium"/>
                <a:cs typeface="Franklin Gothic Medium"/>
              </a:rPr>
              <a:t>Itération</a:t>
            </a:r>
            <a:r>
              <a:rPr dirty="0" sz="1600" spc="-70">
                <a:solidFill>
                  <a:srgbClr val="EC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1600" spc="-50">
                <a:solidFill>
                  <a:srgbClr val="EC0000"/>
                </a:solidFill>
                <a:latin typeface="Franklin Gothic Medium"/>
                <a:cs typeface="Franklin Gothic Medium"/>
              </a:rPr>
              <a:t>3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994643" y="1481708"/>
            <a:ext cx="1066800" cy="38100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6223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490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Itération</a:t>
            </a:r>
            <a:r>
              <a:rPr dirty="0" sz="1600" spc="-7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n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489310" y="1527810"/>
            <a:ext cx="387350" cy="33655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3937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dirty="0" sz="16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…</a:t>
            </a:r>
            <a:endParaRPr sz="16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7831708" y="429259"/>
            <a:ext cx="2008505" cy="457200"/>
          </a:xfrm>
          <a:custGeom>
            <a:avLst/>
            <a:gdLst/>
            <a:ahLst/>
            <a:cxnLst/>
            <a:rect l="l" t="t" r="r" b="b"/>
            <a:pathLst>
              <a:path w="2008504" h="457200">
                <a:moveTo>
                  <a:pt x="2008124" y="0"/>
                </a:moveTo>
                <a:lnTo>
                  <a:pt x="0" y="0"/>
                </a:lnTo>
                <a:lnTo>
                  <a:pt x="0" y="457200"/>
                </a:lnTo>
                <a:lnTo>
                  <a:pt x="2008124" y="457200"/>
                </a:lnTo>
                <a:lnTo>
                  <a:pt x="2008124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8475980" y="502158"/>
            <a:ext cx="718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7171308" y="856233"/>
            <a:ext cx="4692650" cy="640080"/>
          </a:xfrm>
          <a:custGeom>
            <a:avLst/>
            <a:gdLst/>
            <a:ahLst/>
            <a:cxnLst/>
            <a:rect l="l" t="t" r="r" b="b"/>
            <a:pathLst>
              <a:path w="4692650" h="640080">
                <a:moveTo>
                  <a:pt x="693674" y="0"/>
                </a:moveTo>
                <a:lnTo>
                  <a:pt x="0" y="639826"/>
                </a:lnTo>
              </a:path>
              <a:path w="4692650" h="640080">
                <a:moveTo>
                  <a:pt x="2657475" y="14350"/>
                </a:moveTo>
                <a:lnTo>
                  <a:pt x="4692650" y="639826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546862"/>
            <a:ext cx="5697855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25"/>
              <a:t>Caractéristiques: </a:t>
            </a:r>
            <a:r>
              <a:rPr dirty="0" sz="4400"/>
              <a:t>itératif</a:t>
            </a:r>
            <a:r>
              <a:rPr dirty="0" sz="4400" spc="254"/>
              <a:t> </a:t>
            </a:r>
            <a:r>
              <a:rPr dirty="0" sz="4400"/>
              <a:t>et</a:t>
            </a:r>
            <a:r>
              <a:rPr dirty="0" sz="4400" spc="260"/>
              <a:t> </a:t>
            </a:r>
            <a:r>
              <a:rPr dirty="0" sz="4400" spc="-45"/>
              <a:t>incrémental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7838" y="2429129"/>
            <a:ext cx="7005582" cy="402550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368667" y="605409"/>
            <a:ext cx="452056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Gestion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10">
                <a:latin typeface="Times New Roman"/>
                <a:cs typeface="Times New Roman"/>
              </a:rPr>
              <a:t> complexité.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Prise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modifications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besoins.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Apprentissage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rapide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méthode.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Maîtrise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précoce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10">
                <a:latin typeface="Times New Roman"/>
                <a:cs typeface="Times New Roman"/>
              </a:rPr>
              <a:t> risques.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627" y="915162"/>
            <a:ext cx="9887585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185">
                <a:solidFill>
                  <a:srgbClr val="2D2D2C"/>
                </a:solidFill>
              </a:rPr>
              <a:t>Processus</a:t>
            </a:r>
            <a:r>
              <a:rPr dirty="0" sz="4400" spc="-125">
                <a:solidFill>
                  <a:srgbClr val="2D2D2C"/>
                </a:solidFill>
              </a:rPr>
              <a:t> </a:t>
            </a:r>
            <a:r>
              <a:rPr dirty="0" sz="4400" spc="-20">
                <a:solidFill>
                  <a:srgbClr val="2D2D2C"/>
                </a:solidFill>
              </a:rPr>
              <a:t>orienté</a:t>
            </a:r>
            <a:r>
              <a:rPr dirty="0" sz="4400" spc="-180">
                <a:solidFill>
                  <a:srgbClr val="2D2D2C"/>
                </a:solidFill>
              </a:rPr>
              <a:t> </a:t>
            </a:r>
            <a:r>
              <a:rPr dirty="0" sz="4400" spc="-20">
                <a:solidFill>
                  <a:srgbClr val="2D2D2C"/>
                </a:solidFill>
              </a:rPr>
              <a:t>par</a:t>
            </a:r>
            <a:r>
              <a:rPr dirty="0" sz="4400" spc="-145">
                <a:solidFill>
                  <a:srgbClr val="2D2D2C"/>
                </a:solidFill>
              </a:rPr>
              <a:t> </a:t>
            </a:r>
            <a:r>
              <a:rPr dirty="0" sz="4400">
                <a:solidFill>
                  <a:srgbClr val="2D2D2C"/>
                </a:solidFill>
              </a:rPr>
              <a:t>la</a:t>
            </a:r>
            <a:r>
              <a:rPr dirty="0" sz="4400" spc="-114">
                <a:solidFill>
                  <a:srgbClr val="2D2D2C"/>
                </a:solidFill>
              </a:rPr>
              <a:t> </a:t>
            </a:r>
            <a:r>
              <a:rPr dirty="0" sz="4400" spc="-90">
                <a:solidFill>
                  <a:srgbClr val="2D2D2C"/>
                </a:solidFill>
              </a:rPr>
              <a:t>réduction</a:t>
            </a:r>
            <a:r>
              <a:rPr dirty="0" sz="4400" spc="-155">
                <a:solidFill>
                  <a:srgbClr val="2D2D2C"/>
                </a:solidFill>
              </a:rPr>
              <a:t> </a:t>
            </a:r>
            <a:r>
              <a:rPr dirty="0" sz="4400" spc="-85">
                <a:solidFill>
                  <a:srgbClr val="2D2D2C"/>
                </a:solidFill>
              </a:rPr>
              <a:t>des </a:t>
            </a:r>
            <a:r>
              <a:rPr dirty="0" sz="4400" spc="-25">
                <a:solidFill>
                  <a:srgbClr val="2D2D2C"/>
                </a:solidFill>
              </a:rPr>
              <a:t>risques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73835" y="2911221"/>
            <a:ext cx="985774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L’analyse</a:t>
            </a:r>
            <a:r>
              <a:rPr dirty="0" sz="1800" spc="-7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risques</a:t>
            </a:r>
            <a:r>
              <a:rPr dirty="0" sz="1800" spc="-3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doit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être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présente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tous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stades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développement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d’un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système.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Il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important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 bien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évaluer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risques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développements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afin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d’aider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 la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bonne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prise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décision.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fait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l’application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processus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itératif,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UP</a:t>
            </a:r>
            <a:r>
              <a:rPr dirty="0" sz="1800" spc="-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contribue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diminution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risques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fur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mesure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déroulement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itérations</a:t>
            </a:r>
            <a:r>
              <a:rPr dirty="0" sz="1800" spc="-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successives.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4750"/>
              </a:lnSpc>
              <a:spcBef>
                <a:spcPts val="105"/>
              </a:spcBef>
            </a:pPr>
            <a:r>
              <a:rPr dirty="0" sz="4400" spc="-10"/>
              <a:t>Phases</a:t>
            </a:r>
            <a:endParaRPr sz="4400"/>
          </a:p>
          <a:p>
            <a:pPr marL="12700">
              <a:lnSpc>
                <a:spcPts val="4750"/>
              </a:lnSpc>
            </a:pPr>
            <a:r>
              <a:rPr dirty="0" sz="4400" spc="-114"/>
              <a:t>Aspect</a:t>
            </a:r>
            <a:r>
              <a:rPr dirty="0" sz="4400" spc="-180"/>
              <a:t> </a:t>
            </a:r>
            <a:r>
              <a:rPr dirty="0" sz="4400" spc="-145"/>
              <a:t>dynamique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81659" y="6316471"/>
            <a:ext cx="1936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Franklin Gothic Medium"/>
                <a:cs typeface="Franklin Gothic Medium"/>
              </a:rPr>
              <a:t>26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14548" y="4072890"/>
            <a:ext cx="711390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phases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PU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répète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série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cycles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constituant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vie</a:t>
            </a:r>
            <a:r>
              <a:rPr dirty="0" sz="1800" spc="40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cycle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conduit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 la livraison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d’une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version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4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produit.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Times New Roman"/>
                <a:cs typeface="Times New Roman"/>
              </a:rPr>
              <a:t>Chaque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phase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s’achève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jalon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définit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ensemble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d’artefacts.</a:t>
            </a:r>
            <a:endParaRPr sz="1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Chaque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cycle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développement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géré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3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ayant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4 </a:t>
            </a:r>
            <a:r>
              <a:rPr dirty="0" sz="1800" spc="-10">
                <a:latin typeface="Times New Roman"/>
                <a:cs typeface="Times New Roman"/>
              </a:rPr>
              <a:t>phases: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571747" y="5719064"/>
            <a:ext cx="2075814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354330" algn="l"/>
              </a:tabLst>
            </a:pPr>
            <a:r>
              <a:rPr dirty="0" sz="1800">
                <a:latin typeface="Times New Roman"/>
                <a:cs typeface="Times New Roman"/>
              </a:rPr>
              <a:t>Étude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préliminaire</a:t>
            </a:r>
            <a:endParaRPr sz="18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buFont typeface="Courier New"/>
              <a:buChar char="o"/>
              <a:tabLst>
                <a:tab pos="354330" algn="l"/>
              </a:tabLst>
            </a:pPr>
            <a:r>
              <a:rPr dirty="0" sz="1800" spc="-10">
                <a:latin typeface="Times New Roman"/>
                <a:cs typeface="Times New Roman"/>
              </a:rPr>
              <a:t>Élaboration</a:t>
            </a:r>
            <a:endParaRPr sz="18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buFont typeface="Courier New"/>
              <a:buChar char="o"/>
              <a:tabLst>
                <a:tab pos="354330" algn="l"/>
              </a:tabLst>
            </a:pPr>
            <a:r>
              <a:rPr dirty="0" sz="1800" spc="-10">
                <a:latin typeface="Times New Roman"/>
                <a:cs typeface="Times New Roman"/>
              </a:rPr>
              <a:t>Construction</a:t>
            </a:r>
            <a:endParaRPr sz="18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buFont typeface="Courier New"/>
              <a:buChar char="o"/>
              <a:tabLst>
                <a:tab pos="354330" algn="l"/>
              </a:tabLst>
            </a:pPr>
            <a:r>
              <a:rPr dirty="0" sz="1800" spc="-10">
                <a:latin typeface="Times New Roman"/>
                <a:cs typeface="Times New Roman"/>
              </a:rPr>
              <a:t>Transition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853179" y="2058670"/>
            <a:ext cx="6783705" cy="762000"/>
          </a:xfrm>
          <a:custGeom>
            <a:avLst/>
            <a:gdLst/>
            <a:ahLst/>
            <a:cxnLst/>
            <a:rect l="l" t="t" r="r" b="b"/>
            <a:pathLst>
              <a:path w="6783705" h="762000">
                <a:moveTo>
                  <a:pt x="6783324" y="0"/>
                </a:moveTo>
                <a:lnTo>
                  <a:pt x="0" y="0"/>
                </a:lnTo>
                <a:lnTo>
                  <a:pt x="0" y="762000"/>
                </a:lnTo>
                <a:lnTo>
                  <a:pt x="6783324" y="762000"/>
                </a:lnTo>
                <a:lnTo>
                  <a:pt x="6783324" y="0"/>
                </a:lnTo>
                <a:close/>
              </a:path>
            </a:pathLst>
          </a:custGeom>
          <a:solidFill>
            <a:srgbClr val="397D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4021454" y="2211070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212204" y="2211070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402955" y="2211070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700779" y="3354070"/>
            <a:ext cx="1828800" cy="533400"/>
          </a:xfrm>
          <a:custGeom>
            <a:avLst/>
            <a:gdLst/>
            <a:ahLst/>
            <a:cxnLst/>
            <a:rect l="l" t="t" r="r" b="b"/>
            <a:pathLst>
              <a:path w="1828800" h="533400">
                <a:moveTo>
                  <a:pt x="1828800" y="0"/>
                </a:moveTo>
                <a:lnTo>
                  <a:pt x="0" y="0"/>
                </a:lnTo>
                <a:lnTo>
                  <a:pt x="0" y="533399"/>
                </a:lnTo>
                <a:lnTo>
                  <a:pt x="1828800" y="533399"/>
                </a:lnTo>
                <a:lnTo>
                  <a:pt x="1828800" y="0"/>
                </a:lnTo>
                <a:close/>
              </a:path>
            </a:pathLst>
          </a:custGeom>
          <a:solidFill>
            <a:srgbClr val="EBDD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4104132" y="3359023"/>
            <a:ext cx="103568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23622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Étude </a:t>
            </a:r>
            <a:r>
              <a:rPr dirty="0" sz="1600" spc="-25">
                <a:solidFill>
                  <a:srgbClr val="FFFFFF"/>
                </a:solidFill>
                <a:latin typeface="Franklin Gothic Medium"/>
                <a:cs typeface="Franklin Gothic Medium"/>
              </a:rPr>
              <a:t>préliminaire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696017" y="2663507"/>
            <a:ext cx="7324725" cy="1228725"/>
            <a:chOff x="3696017" y="2663507"/>
            <a:chExt cx="7324725" cy="1228725"/>
          </a:xfrm>
        </p:grpSpPr>
        <p:sp>
          <p:nvSpPr>
            <p:cNvPr id="17" name="object 17" descr=""/>
            <p:cNvSpPr/>
            <p:nvPr/>
          </p:nvSpPr>
          <p:spPr>
            <a:xfrm>
              <a:off x="3700779" y="2668270"/>
              <a:ext cx="7315200" cy="685800"/>
            </a:xfrm>
            <a:custGeom>
              <a:avLst/>
              <a:gdLst/>
              <a:ahLst/>
              <a:cxnLst/>
              <a:rect l="l" t="t" r="r" b="b"/>
              <a:pathLst>
                <a:path w="7315200" h="685800">
                  <a:moveTo>
                    <a:pt x="304800" y="0"/>
                  </a:moveTo>
                  <a:lnTo>
                    <a:pt x="0" y="685800"/>
                  </a:lnTo>
                </a:path>
                <a:path w="7315200" h="685800">
                  <a:moveTo>
                    <a:pt x="2328799" y="0"/>
                  </a:moveTo>
                  <a:lnTo>
                    <a:pt x="7315200" y="685800"/>
                  </a:lnTo>
                </a:path>
              </a:pathLst>
            </a:custGeom>
            <a:ln w="952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529579" y="335407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1828800" y="53339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529579" y="335407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399"/>
                  </a:moveTo>
                  <a:lnTo>
                    <a:pt x="1828800" y="533399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956046" y="3480942"/>
            <a:ext cx="989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Élaboration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7353617" y="3349307"/>
            <a:ext cx="1838325" cy="542925"/>
            <a:chOff x="7353617" y="3349307"/>
            <a:chExt cx="1838325" cy="542925"/>
          </a:xfrm>
        </p:grpSpPr>
        <p:sp>
          <p:nvSpPr>
            <p:cNvPr id="22" name="object 22" descr=""/>
            <p:cNvSpPr/>
            <p:nvPr/>
          </p:nvSpPr>
          <p:spPr>
            <a:xfrm>
              <a:off x="7358380" y="335407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1828800" y="53339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58380" y="335407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399"/>
                  </a:moveTo>
                  <a:lnTo>
                    <a:pt x="1828800" y="533399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730363" y="3480942"/>
            <a:ext cx="1096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Construction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9182417" y="3349307"/>
            <a:ext cx="1838325" cy="542925"/>
            <a:chOff x="9182417" y="3349307"/>
            <a:chExt cx="1838325" cy="542925"/>
          </a:xfrm>
        </p:grpSpPr>
        <p:sp>
          <p:nvSpPr>
            <p:cNvPr id="26" name="object 26" descr=""/>
            <p:cNvSpPr/>
            <p:nvPr/>
          </p:nvSpPr>
          <p:spPr>
            <a:xfrm>
              <a:off x="9187180" y="335407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1828800" y="53339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187180" y="3354070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399"/>
                  </a:moveTo>
                  <a:lnTo>
                    <a:pt x="1828800" y="533399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9684384" y="3480942"/>
            <a:ext cx="8470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FFFFFF"/>
                </a:solidFill>
                <a:latin typeface="Franklin Gothic Medium"/>
                <a:cs typeface="Franklin Gothic Medium"/>
              </a:rPr>
              <a:t>Transition</a:t>
            </a:r>
            <a:endParaRPr sz="16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0"/>
              <a:t>Phase</a:t>
            </a:r>
            <a:r>
              <a:rPr dirty="0" sz="4400" spc="-185"/>
              <a:t> </a:t>
            </a:r>
            <a:r>
              <a:rPr dirty="0" sz="4400" spc="270"/>
              <a:t>N°1</a:t>
            </a:r>
            <a:r>
              <a:rPr dirty="0" sz="4400" spc="-55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85"/>
              <a:t>Etude</a:t>
            </a:r>
            <a:r>
              <a:rPr dirty="0" sz="4400" spc="-50"/>
              <a:t> </a:t>
            </a:r>
            <a:r>
              <a:rPr dirty="0" sz="4400" spc="-40"/>
              <a:t>préliminaire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81659" y="6316471"/>
            <a:ext cx="1936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Franklin Gothic Medium"/>
                <a:cs typeface="Franklin Gothic Medium"/>
              </a:rPr>
              <a:t>27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467733" y="2028698"/>
            <a:ext cx="6783705" cy="762000"/>
          </a:xfrm>
          <a:custGeom>
            <a:avLst/>
            <a:gdLst/>
            <a:ahLst/>
            <a:cxnLst/>
            <a:rect l="l" t="t" r="r" b="b"/>
            <a:pathLst>
              <a:path w="6783705" h="762000">
                <a:moveTo>
                  <a:pt x="6783324" y="0"/>
                </a:moveTo>
                <a:lnTo>
                  <a:pt x="0" y="0"/>
                </a:lnTo>
                <a:lnTo>
                  <a:pt x="0" y="762000"/>
                </a:lnTo>
                <a:lnTo>
                  <a:pt x="6783324" y="762000"/>
                </a:lnTo>
                <a:lnTo>
                  <a:pt x="6783324" y="0"/>
                </a:lnTo>
                <a:close/>
              </a:path>
            </a:pathLst>
          </a:custGeom>
          <a:solidFill>
            <a:srgbClr val="397D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636008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5955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26757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17507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315333" y="3324097"/>
            <a:ext cx="1828800" cy="533400"/>
          </a:xfrm>
          <a:prstGeom prst="rect">
            <a:avLst/>
          </a:prstGeom>
          <a:solidFill>
            <a:srgbClr val="5200A3"/>
          </a:solidFill>
        </p:spPr>
        <p:txBody>
          <a:bodyPr wrap="square" lIns="0" tIns="16510" rIns="0" bIns="0" rtlCol="0" vert="horz">
            <a:spAutoFit/>
          </a:bodyPr>
          <a:lstStyle/>
          <a:p>
            <a:pPr algn="ctr" marR="41910">
              <a:lnSpc>
                <a:spcPct val="100000"/>
              </a:lnSpc>
              <a:spcBef>
                <a:spcPts val="130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Étude</a:t>
            </a:r>
            <a:endParaRPr sz="16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préliminaire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310570" y="2633535"/>
            <a:ext cx="7324725" cy="1228725"/>
            <a:chOff x="4310570" y="2633535"/>
            <a:chExt cx="7324725" cy="1228725"/>
          </a:xfrm>
        </p:grpSpPr>
        <p:sp>
          <p:nvSpPr>
            <p:cNvPr id="14" name="object 14" descr=""/>
            <p:cNvSpPr/>
            <p:nvPr/>
          </p:nvSpPr>
          <p:spPr>
            <a:xfrm>
              <a:off x="4315333" y="2638298"/>
              <a:ext cx="7315200" cy="685800"/>
            </a:xfrm>
            <a:custGeom>
              <a:avLst/>
              <a:gdLst/>
              <a:ahLst/>
              <a:cxnLst/>
              <a:rect l="l" t="t" r="r" b="b"/>
              <a:pathLst>
                <a:path w="7315200" h="685800">
                  <a:moveTo>
                    <a:pt x="304800" y="0"/>
                  </a:moveTo>
                  <a:lnTo>
                    <a:pt x="0" y="685800"/>
                  </a:lnTo>
                </a:path>
                <a:path w="7315200" h="685800">
                  <a:moveTo>
                    <a:pt x="2328798" y="0"/>
                  </a:moveTo>
                  <a:lnTo>
                    <a:pt x="7315200" y="685800"/>
                  </a:lnTo>
                </a:path>
              </a:pathLst>
            </a:custGeom>
            <a:ln w="952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44133" y="332409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799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799" y="533400"/>
                  </a:lnTo>
                  <a:lnTo>
                    <a:pt x="1828799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44133" y="332409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799" y="533400"/>
                  </a:lnTo>
                  <a:lnTo>
                    <a:pt x="1828799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570853" y="3451097"/>
            <a:ext cx="989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Élaboration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968170" y="3319335"/>
            <a:ext cx="1838325" cy="542925"/>
            <a:chOff x="7968170" y="3319335"/>
            <a:chExt cx="1838325" cy="542925"/>
          </a:xfrm>
        </p:grpSpPr>
        <p:sp>
          <p:nvSpPr>
            <p:cNvPr id="19" name="object 19" descr=""/>
            <p:cNvSpPr/>
            <p:nvPr/>
          </p:nvSpPr>
          <p:spPr>
            <a:xfrm>
              <a:off x="79729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729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344789" y="3451097"/>
            <a:ext cx="10991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Construction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796970" y="3319335"/>
            <a:ext cx="1838325" cy="542925"/>
            <a:chOff x="9796970" y="3319335"/>
            <a:chExt cx="1838325" cy="542925"/>
          </a:xfrm>
        </p:grpSpPr>
        <p:sp>
          <p:nvSpPr>
            <p:cNvPr id="23" name="object 23" descr=""/>
            <p:cNvSpPr/>
            <p:nvPr/>
          </p:nvSpPr>
          <p:spPr>
            <a:xfrm>
              <a:off x="98017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8017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0298938" y="3451097"/>
            <a:ext cx="8470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FFFFFF"/>
                </a:solidFill>
                <a:latin typeface="Franklin Gothic Medium"/>
                <a:cs typeface="Franklin Gothic Medium"/>
              </a:rPr>
              <a:t>Transition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754115" y="4126229"/>
            <a:ext cx="1280160" cy="420370"/>
            <a:chOff x="5754115" y="4126229"/>
            <a:chExt cx="1280160" cy="420370"/>
          </a:xfrm>
        </p:grpSpPr>
        <p:sp>
          <p:nvSpPr>
            <p:cNvPr id="27" name="object 27" descr=""/>
            <p:cNvSpPr/>
            <p:nvPr/>
          </p:nvSpPr>
          <p:spPr>
            <a:xfrm>
              <a:off x="5757290" y="4129404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09" h="414020">
                  <a:moveTo>
                    <a:pt x="1273810" y="0"/>
                  </a:moveTo>
                  <a:lnTo>
                    <a:pt x="0" y="0"/>
                  </a:lnTo>
                  <a:lnTo>
                    <a:pt x="0" y="413893"/>
                  </a:lnTo>
                  <a:lnTo>
                    <a:pt x="1204722" y="413893"/>
                  </a:lnTo>
                  <a:lnTo>
                    <a:pt x="1273810" y="344932"/>
                  </a:lnTo>
                  <a:lnTo>
                    <a:pt x="127381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962012" y="4474336"/>
              <a:ext cx="69215" cy="69215"/>
            </a:xfrm>
            <a:custGeom>
              <a:avLst/>
              <a:gdLst/>
              <a:ahLst/>
              <a:cxnLst/>
              <a:rect l="l" t="t" r="r" b="b"/>
              <a:pathLst>
                <a:path w="69215" h="69214">
                  <a:moveTo>
                    <a:pt x="69087" y="0"/>
                  </a:moveTo>
                  <a:lnTo>
                    <a:pt x="13842" y="13715"/>
                  </a:lnTo>
                  <a:lnTo>
                    <a:pt x="0" y="68961"/>
                  </a:lnTo>
                  <a:lnTo>
                    <a:pt x="69087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757290" y="4129404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09" h="414020">
                  <a:moveTo>
                    <a:pt x="1204722" y="413893"/>
                  </a:moveTo>
                  <a:lnTo>
                    <a:pt x="1218564" y="358648"/>
                  </a:lnTo>
                  <a:lnTo>
                    <a:pt x="1273810" y="344932"/>
                  </a:lnTo>
                  <a:lnTo>
                    <a:pt x="1204722" y="413893"/>
                  </a:lnTo>
                  <a:lnTo>
                    <a:pt x="0" y="413893"/>
                  </a:lnTo>
                  <a:lnTo>
                    <a:pt x="0" y="0"/>
                  </a:lnTo>
                  <a:lnTo>
                    <a:pt x="1273810" y="0"/>
                  </a:lnTo>
                  <a:lnTo>
                    <a:pt x="1273810" y="344932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2883154" y="4053713"/>
            <a:ext cx="5316220" cy="268160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3220720">
              <a:lnSpc>
                <a:spcPct val="100000"/>
              </a:lnSpc>
              <a:spcBef>
                <a:spcPts val="835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Vision</a:t>
            </a:r>
            <a:endParaRPr sz="1800">
              <a:latin typeface="Franklin Gothic Medium"/>
              <a:cs typeface="Franklin Gothic Medium"/>
            </a:endParaRPr>
          </a:p>
          <a:p>
            <a:pPr marL="299085" indent="-28638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Cette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phase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traduit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l’idée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fini.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Elle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répond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aux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questions </a:t>
            </a:r>
            <a:r>
              <a:rPr dirty="0" sz="1800" spc="-10">
                <a:latin typeface="Times New Roman"/>
                <a:cs typeface="Times New Roman"/>
              </a:rPr>
              <a:t>suivantes: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Que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faire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système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utilisateurs?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quoi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peut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rassembler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l’architecture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système?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Quels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sont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l’organisation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coûts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produit?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Jalon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«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 du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»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 </a:t>
            </a:r>
            <a:r>
              <a:rPr dirty="0" sz="1800" spc="-10">
                <a:latin typeface="Times New Roman"/>
                <a:cs typeface="Times New Roman"/>
              </a:rPr>
              <a:t>document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Accepter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projet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1" name="object 31" descr=""/>
          <p:cNvSpPr/>
          <p:nvPr/>
        </p:nvSpPr>
        <p:spPr>
          <a:xfrm>
            <a:off x="6153911" y="3857497"/>
            <a:ext cx="247650" cy="278765"/>
          </a:xfrm>
          <a:custGeom>
            <a:avLst/>
            <a:gdLst/>
            <a:ahLst/>
            <a:cxnLst/>
            <a:rect l="l" t="t" r="r" b="b"/>
            <a:pathLst>
              <a:path w="247650" h="278764">
                <a:moveTo>
                  <a:pt x="24997" y="28224"/>
                </a:moveTo>
                <a:lnTo>
                  <a:pt x="28662" y="46715"/>
                </a:lnTo>
                <a:lnTo>
                  <a:pt x="233172" y="278256"/>
                </a:lnTo>
                <a:lnTo>
                  <a:pt x="247396" y="265556"/>
                </a:lnTo>
                <a:lnTo>
                  <a:pt x="43033" y="34182"/>
                </a:lnTo>
                <a:lnTo>
                  <a:pt x="24997" y="28224"/>
                </a:lnTo>
                <a:close/>
              </a:path>
              <a:path w="247650" h="278764">
                <a:moveTo>
                  <a:pt x="0" y="0"/>
                </a:moveTo>
                <a:lnTo>
                  <a:pt x="20320" y="102488"/>
                </a:lnTo>
                <a:lnTo>
                  <a:pt x="21336" y="107695"/>
                </a:lnTo>
                <a:lnTo>
                  <a:pt x="26415" y="110997"/>
                </a:lnTo>
                <a:lnTo>
                  <a:pt x="36702" y="108965"/>
                </a:lnTo>
                <a:lnTo>
                  <a:pt x="40004" y="104012"/>
                </a:lnTo>
                <a:lnTo>
                  <a:pt x="38988" y="98806"/>
                </a:lnTo>
                <a:lnTo>
                  <a:pt x="28662" y="46715"/>
                </a:lnTo>
                <a:lnTo>
                  <a:pt x="5461" y="20446"/>
                </a:lnTo>
                <a:lnTo>
                  <a:pt x="19685" y="7746"/>
                </a:lnTo>
                <a:lnTo>
                  <a:pt x="23481" y="7746"/>
                </a:lnTo>
                <a:lnTo>
                  <a:pt x="0" y="0"/>
                </a:lnTo>
                <a:close/>
              </a:path>
              <a:path w="247650" h="278764">
                <a:moveTo>
                  <a:pt x="23481" y="7746"/>
                </a:moveTo>
                <a:lnTo>
                  <a:pt x="19685" y="7746"/>
                </a:lnTo>
                <a:lnTo>
                  <a:pt x="43033" y="34182"/>
                </a:lnTo>
                <a:lnTo>
                  <a:pt x="98298" y="52450"/>
                </a:lnTo>
                <a:lnTo>
                  <a:pt x="103759" y="49783"/>
                </a:lnTo>
                <a:lnTo>
                  <a:pt x="105410" y="44831"/>
                </a:lnTo>
                <a:lnTo>
                  <a:pt x="107061" y="39750"/>
                </a:lnTo>
                <a:lnTo>
                  <a:pt x="104266" y="34416"/>
                </a:lnTo>
                <a:lnTo>
                  <a:pt x="23481" y="7746"/>
                </a:lnTo>
                <a:close/>
              </a:path>
              <a:path w="247650" h="278764">
                <a:moveTo>
                  <a:pt x="19685" y="7746"/>
                </a:moveTo>
                <a:lnTo>
                  <a:pt x="5461" y="20446"/>
                </a:lnTo>
                <a:lnTo>
                  <a:pt x="28662" y="46715"/>
                </a:lnTo>
                <a:lnTo>
                  <a:pt x="24997" y="28224"/>
                </a:lnTo>
                <a:lnTo>
                  <a:pt x="9525" y="23113"/>
                </a:lnTo>
                <a:lnTo>
                  <a:pt x="21843" y="12318"/>
                </a:lnTo>
                <a:lnTo>
                  <a:pt x="23723" y="12318"/>
                </a:lnTo>
                <a:lnTo>
                  <a:pt x="19685" y="7746"/>
                </a:lnTo>
                <a:close/>
              </a:path>
              <a:path w="247650" h="278764">
                <a:moveTo>
                  <a:pt x="23723" y="12318"/>
                </a:moveTo>
                <a:lnTo>
                  <a:pt x="21843" y="12318"/>
                </a:lnTo>
                <a:lnTo>
                  <a:pt x="24997" y="28224"/>
                </a:lnTo>
                <a:lnTo>
                  <a:pt x="43033" y="34182"/>
                </a:lnTo>
                <a:lnTo>
                  <a:pt x="23723" y="12318"/>
                </a:lnTo>
                <a:close/>
              </a:path>
              <a:path w="247650" h="278764">
                <a:moveTo>
                  <a:pt x="21843" y="12318"/>
                </a:moveTo>
                <a:lnTo>
                  <a:pt x="9525" y="23113"/>
                </a:lnTo>
                <a:lnTo>
                  <a:pt x="24997" y="28224"/>
                </a:lnTo>
                <a:lnTo>
                  <a:pt x="21843" y="12318"/>
                </a:lnTo>
                <a:close/>
              </a:path>
            </a:pathLst>
          </a:custGeom>
          <a:solidFill>
            <a:srgbClr val="A9D3D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0"/>
              <a:t>Phase</a:t>
            </a:r>
            <a:r>
              <a:rPr dirty="0" sz="4400" spc="-185"/>
              <a:t> </a:t>
            </a:r>
            <a:r>
              <a:rPr dirty="0" sz="4400" spc="270"/>
              <a:t>N°1</a:t>
            </a:r>
            <a:r>
              <a:rPr dirty="0" sz="4400" spc="-55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85"/>
              <a:t>Etude</a:t>
            </a:r>
            <a:r>
              <a:rPr dirty="0" sz="4400" spc="-50"/>
              <a:t> </a:t>
            </a:r>
            <a:r>
              <a:rPr dirty="0" sz="4400" spc="-40"/>
              <a:t>préliminaire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97888" y="2633598"/>
            <a:ext cx="999363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69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correspond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l’initialisation</a:t>
            </a:r>
            <a:r>
              <a:rPr dirty="0" sz="1800" spc="-1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1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projet</a:t>
            </a:r>
            <a:r>
              <a:rPr dirty="0" sz="1800" spc="-1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où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l’on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mène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étude d’opportunité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faisabilité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construire.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évaluation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risques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aussi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réalisée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dès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phase.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outre,</a:t>
            </a:r>
            <a:r>
              <a:rPr dirty="0" sz="1800" spc="1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identification</a:t>
            </a:r>
            <a:r>
              <a:rPr dirty="0" sz="1800" spc="1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8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principaux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1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accompagnée</a:t>
            </a:r>
            <a:r>
              <a:rPr dirty="0" sz="1800" spc="1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d’une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description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générale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est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modélisée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diagramme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afin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définir</a:t>
            </a:r>
            <a:r>
              <a:rPr dirty="0" sz="1800" spc="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périmètre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projet.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Il</a:t>
            </a:r>
            <a:r>
              <a:rPr dirty="0" sz="1800" spc="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possible,</a:t>
            </a:r>
            <a:r>
              <a:rPr dirty="0" sz="1800" spc="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à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stade,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faire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réaliser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maquettes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sur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sous-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ensemble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identifiés.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n’est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qu’à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l’issue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première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l’on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peut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considérer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projet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véritablement</a:t>
            </a:r>
            <a:r>
              <a:rPr dirty="0" sz="1800" spc="-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lancé.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0"/>
              <a:t>Phase</a:t>
            </a:r>
            <a:r>
              <a:rPr dirty="0" sz="4400" spc="-80"/>
              <a:t> </a:t>
            </a:r>
            <a:r>
              <a:rPr dirty="0" sz="4400" spc="270"/>
              <a:t>N°2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0"/>
              <a:t> </a:t>
            </a:r>
            <a:r>
              <a:rPr dirty="0" sz="4400" spc="-80"/>
              <a:t>Elaboration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883154" y="5033264"/>
            <a:ext cx="821880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Jalon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«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 cycle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 vie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» =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premier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prototype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qui démontre la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validité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choix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architecturaux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Peut-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passer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à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construction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besoins,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architecture,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planning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stables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?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Risques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contrôlés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467733" y="2028698"/>
            <a:ext cx="6783705" cy="762000"/>
          </a:xfrm>
          <a:custGeom>
            <a:avLst/>
            <a:gdLst/>
            <a:ahLst/>
            <a:cxnLst/>
            <a:rect l="l" t="t" r="r" b="b"/>
            <a:pathLst>
              <a:path w="6783705" h="762000">
                <a:moveTo>
                  <a:pt x="6783324" y="0"/>
                </a:moveTo>
                <a:lnTo>
                  <a:pt x="0" y="0"/>
                </a:lnTo>
                <a:lnTo>
                  <a:pt x="0" y="762000"/>
                </a:lnTo>
                <a:lnTo>
                  <a:pt x="6783324" y="762000"/>
                </a:lnTo>
                <a:lnTo>
                  <a:pt x="6783324" y="0"/>
                </a:lnTo>
                <a:close/>
              </a:path>
            </a:pathLst>
          </a:custGeom>
          <a:solidFill>
            <a:srgbClr val="397D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636008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5955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26757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017507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310570" y="2633535"/>
            <a:ext cx="7324725" cy="1228725"/>
            <a:chOff x="4310570" y="2633535"/>
            <a:chExt cx="7324725" cy="1228725"/>
          </a:xfrm>
        </p:grpSpPr>
        <p:sp>
          <p:nvSpPr>
            <p:cNvPr id="13" name="object 13" descr=""/>
            <p:cNvSpPr/>
            <p:nvPr/>
          </p:nvSpPr>
          <p:spPr>
            <a:xfrm>
              <a:off x="4315333" y="2638298"/>
              <a:ext cx="7315200" cy="685800"/>
            </a:xfrm>
            <a:custGeom>
              <a:avLst/>
              <a:gdLst/>
              <a:ahLst/>
              <a:cxnLst/>
              <a:rect l="l" t="t" r="r" b="b"/>
              <a:pathLst>
                <a:path w="7315200" h="685800">
                  <a:moveTo>
                    <a:pt x="304800" y="0"/>
                  </a:moveTo>
                  <a:lnTo>
                    <a:pt x="0" y="685800"/>
                  </a:lnTo>
                </a:path>
                <a:path w="7315200" h="685800">
                  <a:moveTo>
                    <a:pt x="2328798" y="0"/>
                  </a:moveTo>
                  <a:lnTo>
                    <a:pt x="7315200" y="685800"/>
                  </a:lnTo>
                </a:path>
              </a:pathLst>
            </a:custGeom>
            <a:ln w="952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72933" y="332409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972933" y="332409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344789" y="3451097"/>
            <a:ext cx="10991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Construction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796970" y="3319335"/>
            <a:ext cx="1838325" cy="542925"/>
            <a:chOff x="9796970" y="3319335"/>
            <a:chExt cx="1838325" cy="542925"/>
          </a:xfrm>
        </p:grpSpPr>
        <p:sp>
          <p:nvSpPr>
            <p:cNvPr id="18" name="object 18" descr=""/>
            <p:cNvSpPr/>
            <p:nvPr/>
          </p:nvSpPr>
          <p:spPr>
            <a:xfrm>
              <a:off x="98017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017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0298938" y="3451097"/>
            <a:ext cx="8470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FFFFFF"/>
                </a:solidFill>
                <a:latin typeface="Franklin Gothic Medium"/>
                <a:cs typeface="Franklin Gothic Medium"/>
              </a:rPr>
              <a:t>Transition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754115" y="4126229"/>
            <a:ext cx="1280160" cy="420370"/>
            <a:chOff x="5754115" y="4126229"/>
            <a:chExt cx="1280160" cy="420370"/>
          </a:xfrm>
        </p:grpSpPr>
        <p:sp>
          <p:nvSpPr>
            <p:cNvPr id="22" name="object 22" descr=""/>
            <p:cNvSpPr/>
            <p:nvPr/>
          </p:nvSpPr>
          <p:spPr>
            <a:xfrm>
              <a:off x="5757290" y="4129404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09" h="414020">
                  <a:moveTo>
                    <a:pt x="1273810" y="0"/>
                  </a:moveTo>
                  <a:lnTo>
                    <a:pt x="0" y="0"/>
                  </a:lnTo>
                  <a:lnTo>
                    <a:pt x="0" y="413893"/>
                  </a:lnTo>
                  <a:lnTo>
                    <a:pt x="1204722" y="413893"/>
                  </a:lnTo>
                  <a:lnTo>
                    <a:pt x="1273810" y="344932"/>
                  </a:lnTo>
                  <a:lnTo>
                    <a:pt x="127381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962012" y="4474336"/>
              <a:ext cx="69215" cy="69215"/>
            </a:xfrm>
            <a:custGeom>
              <a:avLst/>
              <a:gdLst/>
              <a:ahLst/>
              <a:cxnLst/>
              <a:rect l="l" t="t" r="r" b="b"/>
              <a:pathLst>
                <a:path w="69215" h="69214">
                  <a:moveTo>
                    <a:pt x="69087" y="0"/>
                  </a:moveTo>
                  <a:lnTo>
                    <a:pt x="13842" y="13715"/>
                  </a:lnTo>
                  <a:lnTo>
                    <a:pt x="0" y="68961"/>
                  </a:lnTo>
                  <a:lnTo>
                    <a:pt x="69087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57290" y="4129404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09" h="414020">
                  <a:moveTo>
                    <a:pt x="1204722" y="413893"/>
                  </a:moveTo>
                  <a:lnTo>
                    <a:pt x="1218564" y="358648"/>
                  </a:lnTo>
                  <a:lnTo>
                    <a:pt x="1273810" y="344932"/>
                  </a:lnTo>
                  <a:lnTo>
                    <a:pt x="1204722" y="413893"/>
                  </a:lnTo>
                  <a:lnTo>
                    <a:pt x="0" y="413893"/>
                  </a:lnTo>
                  <a:lnTo>
                    <a:pt x="0" y="0"/>
                  </a:lnTo>
                  <a:lnTo>
                    <a:pt x="1273810" y="0"/>
                  </a:lnTo>
                  <a:lnTo>
                    <a:pt x="1273810" y="344932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091554" y="4146930"/>
            <a:ext cx="605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Vision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295584" y="3319335"/>
            <a:ext cx="2106295" cy="816610"/>
            <a:chOff x="4295584" y="3319335"/>
            <a:chExt cx="2106295" cy="816610"/>
          </a:xfrm>
        </p:grpSpPr>
        <p:sp>
          <p:nvSpPr>
            <p:cNvPr id="27" name="object 27" descr=""/>
            <p:cNvSpPr/>
            <p:nvPr/>
          </p:nvSpPr>
          <p:spPr>
            <a:xfrm>
              <a:off x="6153911" y="3857497"/>
              <a:ext cx="247650" cy="278765"/>
            </a:xfrm>
            <a:custGeom>
              <a:avLst/>
              <a:gdLst/>
              <a:ahLst/>
              <a:cxnLst/>
              <a:rect l="l" t="t" r="r" b="b"/>
              <a:pathLst>
                <a:path w="247650" h="278764">
                  <a:moveTo>
                    <a:pt x="24997" y="28224"/>
                  </a:moveTo>
                  <a:lnTo>
                    <a:pt x="28662" y="46715"/>
                  </a:lnTo>
                  <a:lnTo>
                    <a:pt x="233172" y="278256"/>
                  </a:lnTo>
                  <a:lnTo>
                    <a:pt x="247396" y="265556"/>
                  </a:lnTo>
                  <a:lnTo>
                    <a:pt x="43033" y="34182"/>
                  </a:lnTo>
                  <a:lnTo>
                    <a:pt x="24997" y="28224"/>
                  </a:lnTo>
                  <a:close/>
                </a:path>
                <a:path w="247650" h="278764">
                  <a:moveTo>
                    <a:pt x="0" y="0"/>
                  </a:moveTo>
                  <a:lnTo>
                    <a:pt x="20320" y="102488"/>
                  </a:lnTo>
                  <a:lnTo>
                    <a:pt x="21336" y="107695"/>
                  </a:lnTo>
                  <a:lnTo>
                    <a:pt x="26415" y="110997"/>
                  </a:lnTo>
                  <a:lnTo>
                    <a:pt x="36702" y="108965"/>
                  </a:lnTo>
                  <a:lnTo>
                    <a:pt x="40004" y="104012"/>
                  </a:lnTo>
                  <a:lnTo>
                    <a:pt x="38988" y="98806"/>
                  </a:lnTo>
                  <a:lnTo>
                    <a:pt x="28662" y="46715"/>
                  </a:lnTo>
                  <a:lnTo>
                    <a:pt x="5461" y="20446"/>
                  </a:lnTo>
                  <a:lnTo>
                    <a:pt x="19685" y="7746"/>
                  </a:lnTo>
                  <a:lnTo>
                    <a:pt x="23481" y="7746"/>
                  </a:lnTo>
                  <a:lnTo>
                    <a:pt x="0" y="0"/>
                  </a:lnTo>
                  <a:close/>
                </a:path>
                <a:path w="247650" h="278764">
                  <a:moveTo>
                    <a:pt x="23481" y="7746"/>
                  </a:moveTo>
                  <a:lnTo>
                    <a:pt x="19685" y="7746"/>
                  </a:lnTo>
                  <a:lnTo>
                    <a:pt x="43033" y="34182"/>
                  </a:lnTo>
                  <a:lnTo>
                    <a:pt x="98298" y="52450"/>
                  </a:lnTo>
                  <a:lnTo>
                    <a:pt x="103759" y="49783"/>
                  </a:lnTo>
                  <a:lnTo>
                    <a:pt x="105410" y="44831"/>
                  </a:lnTo>
                  <a:lnTo>
                    <a:pt x="107061" y="39750"/>
                  </a:lnTo>
                  <a:lnTo>
                    <a:pt x="104266" y="34416"/>
                  </a:lnTo>
                  <a:lnTo>
                    <a:pt x="23481" y="7746"/>
                  </a:lnTo>
                  <a:close/>
                </a:path>
                <a:path w="247650" h="278764">
                  <a:moveTo>
                    <a:pt x="19685" y="7746"/>
                  </a:moveTo>
                  <a:lnTo>
                    <a:pt x="5461" y="20446"/>
                  </a:lnTo>
                  <a:lnTo>
                    <a:pt x="28662" y="46715"/>
                  </a:lnTo>
                  <a:lnTo>
                    <a:pt x="24997" y="28224"/>
                  </a:lnTo>
                  <a:lnTo>
                    <a:pt x="9525" y="23113"/>
                  </a:lnTo>
                  <a:lnTo>
                    <a:pt x="21843" y="12318"/>
                  </a:lnTo>
                  <a:lnTo>
                    <a:pt x="23723" y="12318"/>
                  </a:lnTo>
                  <a:lnTo>
                    <a:pt x="19685" y="7746"/>
                  </a:lnTo>
                  <a:close/>
                </a:path>
                <a:path w="247650" h="278764">
                  <a:moveTo>
                    <a:pt x="23723" y="12318"/>
                  </a:moveTo>
                  <a:lnTo>
                    <a:pt x="21843" y="12318"/>
                  </a:lnTo>
                  <a:lnTo>
                    <a:pt x="24997" y="28224"/>
                  </a:lnTo>
                  <a:lnTo>
                    <a:pt x="43033" y="34182"/>
                  </a:lnTo>
                  <a:lnTo>
                    <a:pt x="23723" y="12318"/>
                  </a:lnTo>
                  <a:close/>
                </a:path>
                <a:path w="247650" h="278764">
                  <a:moveTo>
                    <a:pt x="21843" y="12318"/>
                  </a:moveTo>
                  <a:lnTo>
                    <a:pt x="9525" y="23113"/>
                  </a:lnTo>
                  <a:lnTo>
                    <a:pt x="24997" y="28224"/>
                  </a:lnTo>
                  <a:lnTo>
                    <a:pt x="21843" y="12318"/>
                  </a:lnTo>
                  <a:close/>
                </a:path>
              </a:pathLst>
            </a:custGeom>
            <a:solidFill>
              <a:srgbClr val="A9D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00346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00346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300346" y="3324097"/>
            <a:ext cx="182880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41910">
              <a:lnSpc>
                <a:spcPct val="100000"/>
              </a:lnSpc>
              <a:spcBef>
                <a:spcPts val="130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Étude</a:t>
            </a:r>
            <a:endParaRPr sz="16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préliminaire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6190932" y="3304095"/>
            <a:ext cx="1838325" cy="542925"/>
            <a:chOff x="6190932" y="3304095"/>
            <a:chExt cx="1838325" cy="542925"/>
          </a:xfrm>
        </p:grpSpPr>
        <p:sp>
          <p:nvSpPr>
            <p:cNvPr id="32" name="object 32" descr=""/>
            <p:cNvSpPr/>
            <p:nvPr/>
          </p:nvSpPr>
          <p:spPr>
            <a:xfrm>
              <a:off x="6195695" y="330885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5200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195695" y="330885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195695" y="3324097"/>
            <a:ext cx="1828800" cy="53340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426720">
              <a:lnSpc>
                <a:spcPct val="100000"/>
              </a:lnSpc>
              <a:spcBef>
                <a:spcPts val="97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Elaboration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600442" y="4158741"/>
            <a:ext cx="1835150" cy="716280"/>
            <a:chOff x="7600442" y="4158741"/>
            <a:chExt cx="1835150" cy="716280"/>
          </a:xfrm>
        </p:grpSpPr>
        <p:sp>
          <p:nvSpPr>
            <p:cNvPr id="36" name="object 36" descr=""/>
            <p:cNvSpPr/>
            <p:nvPr/>
          </p:nvSpPr>
          <p:spPr>
            <a:xfrm>
              <a:off x="7603617" y="4161916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828800" y="0"/>
                  </a:moveTo>
                  <a:lnTo>
                    <a:pt x="0" y="0"/>
                  </a:lnTo>
                  <a:lnTo>
                    <a:pt x="0" y="709929"/>
                  </a:lnTo>
                  <a:lnTo>
                    <a:pt x="1710435" y="709929"/>
                  </a:lnTo>
                  <a:lnTo>
                    <a:pt x="1828800" y="591565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314053" y="4753482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64" y="0"/>
                  </a:moveTo>
                  <a:lnTo>
                    <a:pt x="23622" y="23622"/>
                  </a:lnTo>
                  <a:lnTo>
                    <a:pt x="0" y="118364"/>
                  </a:lnTo>
                  <a:lnTo>
                    <a:pt x="118364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603617" y="4161916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710435" y="709929"/>
                  </a:moveTo>
                  <a:lnTo>
                    <a:pt x="1734057" y="615187"/>
                  </a:lnTo>
                  <a:lnTo>
                    <a:pt x="1828800" y="591565"/>
                  </a:lnTo>
                  <a:lnTo>
                    <a:pt x="1710435" y="709929"/>
                  </a:lnTo>
                  <a:lnTo>
                    <a:pt x="0" y="709929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591565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7775193" y="4165472"/>
            <a:ext cx="14852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Franklin Gothic Medium"/>
                <a:cs typeface="Franklin Gothic Medium"/>
              </a:rPr>
              <a:t>Architecture</a:t>
            </a:r>
            <a:r>
              <a:rPr dirty="0" sz="1800" spc="-1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de</a:t>
            </a:r>
            <a:endParaRPr sz="18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</a:pPr>
            <a:r>
              <a:rPr dirty="0" sz="1800" spc="-20">
                <a:latin typeface="Franklin Gothic Medium"/>
                <a:cs typeface="Franklin Gothic Medium"/>
              </a:rPr>
              <a:t>base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8000238" y="3885057"/>
            <a:ext cx="522605" cy="285750"/>
          </a:xfrm>
          <a:custGeom>
            <a:avLst/>
            <a:gdLst/>
            <a:ahLst/>
            <a:cxnLst/>
            <a:rect l="l" t="t" r="r" b="b"/>
            <a:pathLst>
              <a:path w="522604" h="285750">
                <a:moveTo>
                  <a:pt x="52425" y="21665"/>
                </a:moveTo>
                <a:lnTo>
                  <a:pt x="33459" y="22512"/>
                </a:lnTo>
                <a:lnTo>
                  <a:pt x="43443" y="38445"/>
                </a:lnTo>
                <a:lnTo>
                  <a:pt x="513333" y="285242"/>
                </a:lnTo>
                <a:lnTo>
                  <a:pt x="522223" y="268351"/>
                </a:lnTo>
                <a:lnTo>
                  <a:pt x="52425" y="21665"/>
                </a:lnTo>
                <a:close/>
              </a:path>
              <a:path w="522604" h="285750">
                <a:moveTo>
                  <a:pt x="109727" y="0"/>
                </a:moveTo>
                <a:lnTo>
                  <a:pt x="0" y="4826"/>
                </a:lnTo>
                <a:lnTo>
                  <a:pt x="55371" y="93472"/>
                </a:lnTo>
                <a:lnTo>
                  <a:pt x="58165" y="97917"/>
                </a:lnTo>
                <a:lnTo>
                  <a:pt x="64134" y="99314"/>
                </a:lnTo>
                <a:lnTo>
                  <a:pt x="73025" y="93726"/>
                </a:lnTo>
                <a:lnTo>
                  <a:pt x="74421" y="87884"/>
                </a:lnTo>
                <a:lnTo>
                  <a:pt x="43443" y="38445"/>
                </a:lnTo>
                <a:lnTo>
                  <a:pt x="12318" y="22098"/>
                </a:lnTo>
                <a:lnTo>
                  <a:pt x="21081" y="5207"/>
                </a:lnTo>
                <a:lnTo>
                  <a:pt x="114200" y="5207"/>
                </a:lnTo>
                <a:lnTo>
                  <a:pt x="114172" y="4064"/>
                </a:lnTo>
                <a:lnTo>
                  <a:pt x="109727" y="0"/>
                </a:lnTo>
                <a:close/>
              </a:path>
              <a:path w="522604" h="285750">
                <a:moveTo>
                  <a:pt x="21081" y="5207"/>
                </a:moveTo>
                <a:lnTo>
                  <a:pt x="12318" y="22098"/>
                </a:lnTo>
                <a:lnTo>
                  <a:pt x="43443" y="38445"/>
                </a:lnTo>
                <a:lnTo>
                  <a:pt x="33916" y="23241"/>
                </a:lnTo>
                <a:lnTo>
                  <a:pt x="17144" y="23241"/>
                </a:lnTo>
                <a:lnTo>
                  <a:pt x="24764" y="8636"/>
                </a:lnTo>
                <a:lnTo>
                  <a:pt x="27612" y="8636"/>
                </a:lnTo>
                <a:lnTo>
                  <a:pt x="21081" y="5207"/>
                </a:lnTo>
                <a:close/>
              </a:path>
              <a:path w="522604" h="285750">
                <a:moveTo>
                  <a:pt x="24764" y="8636"/>
                </a:moveTo>
                <a:lnTo>
                  <a:pt x="17144" y="23241"/>
                </a:lnTo>
                <a:lnTo>
                  <a:pt x="33459" y="22512"/>
                </a:lnTo>
                <a:lnTo>
                  <a:pt x="24764" y="8636"/>
                </a:lnTo>
                <a:close/>
              </a:path>
              <a:path w="522604" h="285750">
                <a:moveTo>
                  <a:pt x="33459" y="22512"/>
                </a:moveTo>
                <a:lnTo>
                  <a:pt x="17144" y="23241"/>
                </a:lnTo>
                <a:lnTo>
                  <a:pt x="33916" y="23241"/>
                </a:lnTo>
                <a:lnTo>
                  <a:pt x="33459" y="22512"/>
                </a:lnTo>
                <a:close/>
              </a:path>
              <a:path w="522604" h="285750">
                <a:moveTo>
                  <a:pt x="27612" y="8636"/>
                </a:moveTo>
                <a:lnTo>
                  <a:pt x="24764" y="8636"/>
                </a:lnTo>
                <a:lnTo>
                  <a:pt x="33459" y="22512"/>
                </a:lnTo>
                <a:lnTo>
                  <a:pt x="52425" y="21665"/>
                </a:lnTo>
                <a:lnTo>
                  <a:pt x="27612" y="8636"/>
                </a:lnTo>
                <a:close/>
              </a:path>
              <a:path w="522604" h="285750">
                <a:moveTo>
                  <a:pt x="114200" y="5207"/>
                </a:moveTo>
                <a:lnTo>
                  <a:pt x="21081" y="5207"/>
                </a:lnTo>
                <a:lnTo>
                  <a:pt x="52425" y="21665"/>
                </a:lnTo>
                <a:lnTo>
                  <a:pt x="110489" y="19050"/>
                </a:lnTo>
                <a:lnTo>
                  <a:pt x="114553" y="14605"/>
                </a:lnTo>
                <a:lnTo>
                  <a:pt x="114300" y="9271"/>
                </a:lnTo>
                <a:lnTo>
                  <a:pt x="114200" y="5207"/>
                </a:lnTo>
                <a:close/>
              </a:path>
            </a:pathLst>
          </a:custGeom>
          <a:solidFill>
            <a:srgbClr val="A9D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54965" y="2541523"/>
            <a:ext cx="538035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Spécifier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plupart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d’utilisation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Concevoir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l’architecture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(squelette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système)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Mettre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œuvre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cette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architecture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CU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critiques,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&lt;10 % des</a:t>
            </a:r>
            <a:r>
              <a:rPr dirty="0" sz="1800" spc="-10">
                <a:latin typeface="Times New Roman"/>
                <a:cs typeface="Times New Roman"/>
              </a:rPr>
              <a:t> besoins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Faire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planification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complète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0"/>
              <a:t>Phase</a:t>
            </a:r>
            <a:r>
              <a:rPr dirty="0" sz="4400" spc="-80"/>
              <a:t> </a:t>
            </a:r>
            <a:r>
              <a:rPr dirty="0" sz="4400" spc="270"/>
              <a:t>N°2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0"/>
              <a:t> </a:t>
            </a:r>
            <a:r>
              <a:rPr dirty="0" sz="4400" spc="-80"/>
              <a:t>Elaboration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147697" y="2591511"/>
            <a:ext cx="9543415" cy="3592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7815" marR="508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reprend</a:t>
            </a:r>
            <a:r>
              <a:rPr dirty="0" sz="1800" spc="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résultats</a:t>
            </a:r>
            <a:r>
              <a:rPr dirty="0" sz="1800" spc="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d’inception</a:t>
            </a:r>
            <a:r>
              <a:rPr dirty="0" sz="1800" spc="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élargit</a:t>
            </a:r>
            <a:r>
              <a:rPr dirty="0" sz="1800" spc="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l’appréciation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faisabilité</a:t>
            </a:r>
            <a:r>
              <a:rPr dirty="0" sz="1800" spc="3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sur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1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quasi-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totalité</a:t>
            </a:r>
            <a:r>
              <a:rPr dirty="0" sz="1800" spc="8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d’utilisation.</a:t>
            </a:r>
            <a:r>
              <a:rPr dirty="0" sz="1800" spc="1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Ces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</a:t>
            </a:r>
            <a:r>
              <a:rPr dirty="0" sz="1800" spc="1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retrouvent</a:t>
            </a:r>
            <a:r>
              <a:rPr dirty="0" sz="1800" spc="1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1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diagramme</a:t>
            </a:r>
            <a:r>
              <a:rPr dirty="0" sz="1800" spc="1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cas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	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qui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ainsi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complété.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aussi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but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d’analyser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domaine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technique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développer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afin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d’aboutir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architecture</a:t>
            </a:r>
            <a:r>
              <a:rPr dirty="0" sz="1800" spc="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stable.</a:t>
            </a:r>
            <a:r>
              <a:rPr dirty="0" sz="1800" spc="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Ainsi,</a:t>
            </a:r>
            <a:r>
              <a:rPr dirty="0" sz="1800" spc="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toutes</a:t>
            </a:r>
            <a:r>
              <a:rPr dirty="0" sz="1800" spc="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exigences</a:t>
            </a:r>
            <a:r>
              <a:rPr dirty="0" sz="1800" spc="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non</a:t>
            </a:r>
            <a:r>
              <a:rPr dirty="0" sz="1800" spc="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recensées</a:t>
            </a:r>
            <a:r>
              <a:rPr dirty="0" sz="1800" spc="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cas</a:t>
            </a:r>
            <a:r>
              <a:rPr dirty="0" sz="1800" spc="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d’utilisation,</a:t>
            </a:r>
            <a:r>
              <a:rPr dirty="0" sz="1800" spc="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comme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par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exemple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exigences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performances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système,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seront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prises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compte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conception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l’élaboration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l’architecture.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L’évaluation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risques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l’étude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rentabilité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projet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sont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aussi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précisées.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algn="just" marL="299085" marR="57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</a:t>
            </a:r>
            <a:r>
              <a:rPr dirty="0" sz="1800" spc="17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planning</a:t>
            </a:r>
            <a:r>
              <a:rPr dirty="0" sz="1800" spc="18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1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réalisé</a:t>
            </a:r>
            <a:r>
              <a:rPr dirty="0" sz="1800" spc="18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17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phases</a:t>
            </a:r>
            <a:r>
              <a:rPr dirty="0" sz="1800" spc="18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suivantes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18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projet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indiquant</a:t>
            </a:r>
            <a:r>
              <a:rPr dirty="0" sz="1800" spc="18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1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nombre</a:t>
            </a:r>
            <a:r>
              <a:rPr dirty="0" sz="1800" spc="19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d’itérations</a:t>
            </a:r>
            <a:r>
              <a:rPr dirty="0" sz="1800" spc="18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à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réaliser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construction.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35"/>
              <a:t>Phases</a:t>
            </a:r>
            <a:r>
              <a:rPr dirty="0" sz="4400" spc="-50"/>
              <a:t> </a:t>
            </a:r>
            <a:r>
              <a:rPr dirty="0" sz="4400" spc="275"/>
              <a:t>N°3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110"/>
              <a:t>Construction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81659" y="6316471"/>
            <a:ext cx="1936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Franklin Gothic Medium"/>
                <a:cs typeface="Franklin Gothic Medium"/>
              </a:rPr>
              <a:t>31</a:t>
            </a:r>
            <a:endParaRPr sz="11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83154" y="5033264"/>
            <a:ext cx="719391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Times New Roman"/>
                <a:cs typeface="Times New Roman"/>
              </a:rPr>
              <a:t>Jalon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«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capacité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opérationnelle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initiale »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version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béta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est-</a:t>
            </a:r>
            <a:r>
              <a:rPr dirty="0" sz="1800">
                <a:latin typeface="Times New Roman"/>
                <a:cs typeface="Times New Roman"/>
              </a:rPr>
              <a:t>il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suffisamment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correct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pour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être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installé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chez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client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Phase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plus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coûteuse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&gt;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50%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cycle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467733" y="2028698"/>
            <a:ext cx="6783705" cy="762000"/>
          </a:xfrm>
          <a:custGeom>
            <a:avLst/>
            <a:gdLst/>
            <a:ahLst/>
            <a:cxnLst/>
            <a:rect l="l" t="t" r="r" b="b"/>
            <a:pathLst>
              <a:path w="6783705" h="762000">
                <a:moveTo>
                  <a:pt x="6783324" y="0"/>
                </a:moveTo>
                <a:lnTo>
                  <a:pt x="0" y="0"/>
                </a:lnTo>
                <a:lnTo>
                  <a:pt x="0" y="762000"/>
                </a:lnTo>
                <a:lnTo>
                  <a:pt x="6783324" y="762000"/>
                </a:lnTo>
                <a:lnTo>
                  <a:pt x="6783324" y="0"/>
                </a:lnTo>
                <a:close/>
              </a:path>
            </a:pathLst>
          </a:custGeom>
          <a:solidFill>
            <a:srgbClr val="397D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4636008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5955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26757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017507" y="2181098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4310570" y="2633535"/>
            <a:ext cx="7324725" cy="1218565"/>
            <a:chOff x="4310570" y="2633535"/>
            <a:chExt cx="7324725" cy="1218565"/>
          </a:xfrm>
        </p:grpSpPr>
        <p:sp>
          <p:nvSpPr>
            <p:cNvPr id="14" name="object 14" descr=""/>
            <p:cNvSpPr/>
            <p:nvPr/>
          </p:nvSpPr>
          <p:spPr>
            <a:xfrm>
              <a:off x="4315333" y="2638298"/>
              <a:ext cx="7315200" cy="685800"/>
            </a:xfrm>
            <a:custGeom>
              <a:avLst/>
              <a:gdLst/>
              <a:ahLst/>
              <a:cxnLst/>
              <a:rect l="l" t="t" r="r" b="b"/>
              <a:pathLst>
                <a:path w="7315200" h="685800">
                  <a:moveTo>
                    <a:pt x="304800" y="0"/>
                  </a:moveTo>
                  <a:lnTo>
                    <a:pt x="0" y="685800"/>
                  </a:lnTo>
                </a:path>
                <a:path w="7315200" h="685800">
                  <a:moveTo>
                    <a:pt x="2328798" y="0"/>
                  </a:moveTo>
                  <a:lnTo>
                    <a:pt x="7315200" y="685800"/>
                  </a:lnTo>
                </a:path>
              </a:pathLst>
            </a:custGeom>
            <a:ln w="952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53912" y="3313684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799" y="533400"/>
                  </a:lnTo>
                  <a:lnTo>
                    <a:pt x="1828799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53911" y="3324097"/>
            <a:ext cx="1793875" cy="533400"/>
          </a:xfrm>
          <a:prstGeom prst="rect">
            <a:avLst/>
          </a:prstGeom>
          <a:solidFill>
            <a:srgbClr val="EBDD29"/>
          </a:solidFill>
        </p:spPr>
        <p:txBody>
          <a:bodyPr wrap="square" lIns="0" tIns="128270" rIns="0" bIns="0" rtlCol="0" vert="horz">
            <a:spAutoFit/>
          </a:bodyPr>
          <a:lstStyle/>
          <a:p>
            <a:pPr marL="426084">
              <a:lnSpc>
                <a:spcPct val="100000"/>
              </a:lnSpc>
              <a:spcBef>
                <a:spcPts val="1010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Elaboration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796970" y="3319335"/>
            <a:ext cx="1838325" cy="542925"/>
            <a:chOff x="9796970" y="3319335"/>
            <a:chExt cx="1838325" cy="542925"/>
          </a:xfrm>
        </p:grpSpPr>
        <p:sp>
          <p:nvSpPr>
            <p:cNvPr id="18" name="object 18" descr=""/>
            <p:cNvSpPr/>
            <p:nvPr/>
          </p:nvSpPr>
          <p:spPr>
            <a:xfrm>
              <a:off x="98017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01732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0298938" y="3451097"/>
            <a:ext cx="8470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20">
                <a:solidFill>
                  <a:srgbClr val="FFFFFF"/>
                </a:solidFill>
                <a:latin typeface="Franklin Gothic Medium"/>
                <a:cs typeface="Franklin Gothic Medium"/>
              </a:rPr>
              <a:t>Transition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754115" y="4126229"/>
            <a:ext cx="1280160" cy="420370"/>
            <a:chOff x="5754115" y="4126229"/>
            <a:chExt cx="1280160" cy="420370"/>
          </a:xfrm>
        </p:grpSpPr>
        <p:sp>
          <p:nvSpPr>
            <p:cNvPr id="22" name="object 22" descr=""/>
            <p:cNvSpPr/>
            <p:nvPr/>
          </p:nvSpPr>
          <p:spPr>
            <a:xfrm>
              <a:off x="5757290" y="4129404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09" h="414020">
                  <a:moveTo>
                    <a:pt x="1273810" y="0"/>
                  </a:moveTo>
                  <a:lnTo>
                    <a:pt x="0" y="0"/>
                  </a:lnTo>
                  <a:lnTo>
                    <a:pt x="0" y="413893"/>
                  </a:lnTo>
                  <a:lnTo>
                    <a:pt x="1204722" y="413893"/>
                  </a:lnTo>
                  <a:lnTo>
                    <a:pt x="1273810" y="344932"/>
                  </a:lnTo>
                  <a:lnTo>
                    <a:pt x="127381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962012" y="4474336"/>
              <a:ext cx="69215" cy="69215"/>
            </a:xfrm>
            <a:custGeom>
              <a:avLst/>
              <a:gdLst/>
              <a:ahLst/>
              <a:cxnLst/>
              <a:rect l="l" t="t" r="r" b="b"/>
              <a:pathLst>
                <a:path w="69215" h="69214">
                  <a:moveTo>
                    <a:pt x="69087" y="0"/>
                  </a:moveTo>
                  <a:lnTo>
                    <a:pt x="13842" y="13715"/>
                  </a:lnTo>
                  <a:lnTo>
                    <a:pt x="0" y="68961"/>
                  </a:lnTo>
                  <a:lnTo>
                    <a:pt x="69087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57290" y="4129404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09" h="414020">
                  <a:moveTo>
                    <a:pt x="1204722" y="413893"/>
                  </a:moveTo>
                  <a:lnTo>
                    <a:pt x="1218564" y="358648"/>
                  </a:lnTo>
                  <a:lnTo>
                    <a:pt x="1273810" y="344932"/>
                  </a:lnTo>
                  <a:lnTo>
                    <a:pt x="1204722" y="413893"/>
                  </a:lnTo>
                  <a:lnTo>
                    <a:pt x="0" y="413893"/>
                  </a:lnTo>
                  <a:lnTo>
                    <a:pt x="0" y="0"/>
                  </a:lnTo>
                  <a:lnTo>
                    <a:pt x="1273810" y="0"/>
                  </a:lnTo>
                  <a:lnTo>
                    <a:pt x="1273810" y="344932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091554" y="4146930"/>
            <a:ext cx="605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Vision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4295584" y="3319335"/>
            <a:ext cx="2106295" cy="816610"/>
            <a:chOff x="4295584" y="3319335"/>
            <a:chExt cx="2106295" cy="816610"/>
          </a:xfrm>
        </p:grpSpPr>
        <p:sp>
          <p:nvSpPr>
            <p:cNvPr id="27" name="object 27" descr=""/>
            <p:cNvSpPr/>
            <p:nvPr/>
          </p:nvSpPr>
          <p:spPr>
            <a:xfrm>
              <a:off x="6153911" y="3857497"/>
              <a:ext cx="247650" cy="278765"/>
            </a:xfrm>
            <a:custGeom>
              <a:avLst/>
              <a:gdLst/>
              <a:ahLst/>
              <a:cxnLst/>
              <a:rect l="l" t="t" r="r" b="b"/>
              <a:pathLst>
                <a:path w="247650" h="278764">
                  <a:moveTo>
                    <a:pt x="24997" y="28224"/>
                  </a:moveTo>
                  <a:lnTo>
                    <a:pt x="28662" y="46715"/>
                  </a:lnTo>
                  <a:lnTo>
                    <a:pt x="233172" y="278256"/>
                  </a:lnTo>
                  <a:lnTo>
                    <a:pt x="247396" y="265556"/>
                  </a:lnTo>
                  <a:lnTo>
                    <a:pt x="43033" y="34182"/>
                  </a:lnTo>
                  <a:lnTo>
                    <a:pt x="24997" y="28224"/>
                  </a:lnTo>
                  <a:close/>
                </a:path>
                <a:path w="247650" h="278764">
                  <a:moveTo>
                    <a:pt x="0" y="0"/>
                  </a:moveTo>
                  <a:lnTo>
                    <a:pt x="20320" y="102488"/>
                  </a:lnTo>
                  <a:lnTo>
                    <a:pt x="21336" y="107695"/>
                  </a:lnTo>
                  <a:lnTo>
                    <a:pt x="26415" y="110997"/>
                  </a:lnTo>
                  <a:lnTo>
                    <a:pt x="36702" y="108965"/>
                  </a:lnTo>
                  <a:lnTo>
                    <a:pt x="40004" y="104012"/>
                  </a:lnTo>
                  <a:lnTo>
                    <a:pt x="38988" y="98806"/>
                  </a:lnTo>
                  <a:lnTo>
                    <a:pt x="28662" y="46715"/>
                  </a:lnTo>
                  <a:lnTo>
                    <a:pt x="5461" y="20446"/>
                  </a:lnTo>
                  <a:lnTo>
                    <a:pt x="19685" y="7746"/>
                  </a:lnTo>
                  <a:lnTo>
                    <a:pt x="23481" y="7746"/>
                  </a:lnTo>
                  <a:lnTo>
                    <a:pt x="0" y="0"/>
                  </a:lnTo>
                  <a:close/>
                </a:path>
                <a:path w="247650" h="278764">
                  <a:moveTo>
                    <a:pt x="23481" y="7746"/>
                  </a:moveTo>
                  <a:lnTo>
                    <a:pt x="19685" y="7746"/>
                  </a:lnTo>
                  <a:lnTo>
                    <a:pt x="43033" y="34182"/>
                  </a:lnTo>
                  <a:lnTo>
                    <a:pt x="98298" y="52450"/>
                  </a:lnTo>
                  <a:lnTo>
                    <a:pt x="103759" y="49783"/>
                  </a:lnTo>
                  <a:lnTo>
                    <a:pt x="105410" y="44831"/>
                  </a:lnTo>
                  <a:lnTo>
                    <a:pt x="107061" y="39750"/>
                  </a:lnTo>
                  <a:lnTo>
                    <a:pt x="104266" y="34416"/>
                  </a:lnTo>
                  <a:lnTo>
                    <a:pt x="23481" y="7746"/>
                  </a:lnTo>
                  <a:close/>
                </a:path>
                <a:path w="247650" h="278764">
                  <a:moveTo>
                    <a:pt x="19685" y="7746"/>
                  </a:moveTo>
                  <a:lnTo>
                    <a:pt x="5461" y="20446"/>
                  </a:lnTo>
                  <a:lnTo>
                    <a:pt x="28662" y="46715"/>
                  </a:lnTo>
                  <a:lnTo>
                    <a:pt x="24997" y="28224"/>
                  </a:lnTo>
                  <a:lnTo>
                    <a:pt x="9525" y="23113"/>
                  </a:lnTo>
                  <a:lnTo>
                    <a:pt x="21843" y="12318"/>
                  </a:lnTo>
                  <a:lnTo>
                    <a:pt x="23723" y="12318"/>
                  </a:lnTo>
                  <a:lnTo>
                    <a:pt x="19685" y="7746"/>
                  </a:lnTo>
                  <a:close/>
                </a:path>
                <a:path w="247650" h="278764">
                  <a:moveTo>
                    <a:pt x="23723" y="12318"/>
                  </a:moveTo>
                  <a:lnTo>
                    <a:pt x="21843" y="12318"/>
                  </a:lnTo>
                  <a:lnTo>
                    <a:pt x="24997" y="28224"/>
                  </a:lnTo>
                  <a:lnTo>
                    <a:pt x="43033" y="34182"/>
                  </a:lnTo>
                  <a:lnTo>
                    <a:pt x="23723" y="12318"/>
                  </a:lnTo>
                  <a:close/>
                </a:path>
                <a:path w="247650" h="278764">
                  <a:moveTo>
                    <a:pt x="21843" y="12318"/>
                  </a:moveTo>
                  <a:lnTo>
                    <a:pt x="9525" y="23113"/>
                  </a:lnTo>
                  <a:lnTo>
                    <a:pt x="24997" y="28224"/>
                  </a:lnTo>
                  <a:lnTo>
                    <a:pt x="21843" y="12318"/>
                  </a:lnTo>
                  <a:close/>
                </a:path>
              </a:pathLst>
            </a:custGeom>
            <a:solidFill>
              <a:srgbClr val="A9D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00346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00346" y="33240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300346" y="3328492"/>
            <a:ext cx="1828800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4191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Étude</a:t>
            </a:r>
            <a:endParaRPr sz="16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préliminaire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7943024" y="3308286"/>
            <a:ext cx="1838325" cy="542925"/>
            <a:chOff x="7943024" y="3308286"/>
            <a:chExt cx="1838325" cy="542925"/>
          </a:xfrm>
        </p:grpSpPr>
        <p:sp>
          <p:nvSpPr>
            <p:cNvPr id="32" name="object 32" descr=""/>
            <p:cNvSpPr/>
            <p:nvPr/>
          </p:nvSpPr>
          <p:spPr>
            <a:xfrm>
              <a:off x="7947786" y="331304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5200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947786" y="3313048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8319769" y="3439795"/>
            <a:ext cx="10966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Construction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600442" y="4158741"/>
            <a:ext cx="1835150" cy="716280"/>
            <a:chOff x="7600442" y="4158741"/>
            <a:chExt cx="1835150" cy="716280"/>
          </a:xfrm>
        </p:grpSpPr>
        <p:sp>
          <p:nvSpPr>
            <p:cNvPr id="36" name="object 36" descr=""/>
            <p:cNvSpPr/>
            <p:nvPr/>
          </p:nvSpPr>
          <p:spPr>
            <a:xfrm>
              <a:off x="7603617" y="4161916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828800" y="0"/>
                  </a:moveTo>
                  <a:lnTo>
                    <a:pt x="0" y="0"/>
                  </a:lnTo>
                  <a:lnTo>
                    <a:pt x="0" y="709929"/>
                  </a:lnTo>
                  <a:lnTo>
                    <a:pt x="1710435" y="709929"/>
                  </a:lnTo>
                  <a:lnTo>
                    <a:pt x="1828800" y="591565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9314053" y="4753482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64" y="0"/>
                  </a:moveTo>
                  <a:lnTo>
                    <a:pt x="23622" y="23622"/>
                  </a:lnTo>
                  <a:lnTo>
                    <a:pt x="0" y="118364"/>
                  </a:lnTo>
                  <a:lnTo>
                    <a:pt x="118364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603617" y="4161916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710435" y="709929"/>
                  </a:moveTo>
                  <a:lnTo>
                    <a:pt x="1734057" y="615187"/>
                  </a:lnTo>
                  <a:lnTo>
                    <a:pt x="1828800" y="591565"/>
                  </a:lnTo>
                  <a:lnTo>
                    <a:pt x="1710435" y="709929"/>
                  </a:lnTo>
                  <a:lnTo>
                    <a:pt x="0" y="709929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591565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7775193" y="4165472"/>
            <a:ext cx="148526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Franklin Gothic Medium"/>
                <a:cs typeface="Franklin Gothic Medium"/>
              </a:rPr>
              <a:t>Architecture</a:t>
            </a:r>
            <a:r>
              <a:rPr dirty="0" sz="1800" spc="-1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de</a:t>
            </a:r>
            <a:endParaRPr sz="1800">
              <a:latin typeface="Franklin Gothic Medium"/>
              <a:cs typeface="Franklin Gothic Medium"/>
            </a:endParaRPr>
          </a:p>
          <a:p>
            <a:pPr algn="ctr" marL="635">
              <a:lnSpc>
                <a:spcPct val="100000"/>
              </a:lnSpc>
            </a:pPr>
            <a:r>
              <a:rPr dirty="0" sz="1800" spc="-20">
                <a:latin typeface="Franklin Gothic Medium"/>
                <a:cs typeface="Franklin Gothic Medium"/>
              </a:rPr>
              <a:t>base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8000238" y="3885057"/>
            <a:ext cx="3491865" cy="1022350"/>
            <a:chOff x="8000238" y="3885057"/>
            <a:chExt cx="3491865" cy="1022350"/>
          </a:xfrm>
        </p:grpSpPr>
        <p:sp>
          <p:nvSpPr>
            <p:cNvPr id="41" name="object 41" descr=""/>
            <p:cNvSpPr/>
            <p:nvPr/>
          </p:nvSpPr>
          <p:spPr>
            <a:xfrm>
              <a:off x="8000238" y="3885057"/>
              <a:ext cx="522605" cy="285750"/>
            </a:xfrm>
            <a:custGeom>
              <a:avLst/>
              <a:gdLst/>
              <a:ahLst/>
              <a:cxnLst/>
              <a:rect l="l" t="t" r="r" b="b"/>
              <a:pathLst>
                <a:path w="522604" h="285750">
                  <a:moveTo>
                    <a:pt x="52425" y="21665"/>
                  </a:moveTo>
                  <a:lnTo>
                    <a:pt x="33459" y="22512"/>
                  </a:lnTo>
                  <a:lnTo>
                    <a:pt x="43443" y="38445"/>
                  </a:lnTo>
                  <a:lnTo>
                    <a:pt x="513333" y="285242"/>
                  </a:lnTo>
                  <a:lnTo>
                    <a:pt x="522223" y="268351"/>
                  </a:lnTo>
                  <a:lnTo>
                    <a:pt x="52425" y="21665"/>
                  </a:lnTo>
                  <a:close/>
                </a:path>
                <a:path w="522604" h="285750">
                  <a:moveTo>
                    <a:pt x="109727" y="0"/>
                  </a:moveTo>
                  <a:lnTo>
                    <a:pt x="0" y="4826"/>
                  </a:lnTo>
                  <a:lnTo>
                    <a:pt x="55371" y="93472"/>
                  </a:lnTo>
                  <a:lnTo>
                    <a:pt x="58165" y="97917"/>
                  </a:lnTo>
                  <a:lnTo>
                    <a:pt x="64134" y="99314"/>
                  </a:lnTo>
                  <a:lnTo>
                    <a:pt x="73025" y="93726"/>
                  </a:lnTo>
                  <a:lnTo>
                    <a:pt x="74421" y="87884"/>
                  </a:lnTo>
                  <a:lnTo>
                    <a:pt x="43443" y="38445"/>
                  </a:lnTo>
                  <a:lnTo>
                    <a:pt x="12318" y="22098"/>
                  </a:lnTo>
                  <a:lnTo>
                    <a:pt x="21081" y="5207"/>
                  </a:lnTo>
                  <a:lnTo>
                    <a:pt x="114200" y="5207"/>
                  </a:lnTo>
                  <a:lnTo>
                    <a:pt x="114172" y="4064"/>
                  </a:lnTo>
                  <a:lnTo>
                    <a:pt x="109727" y="0"/>
                  </a:lnTo>
                  <a:close/>
                </a:path>
                <a:path w="522604" h="285750">
                  <a:moveTo>
                    <a:pt x="21081" y="5207"/>
                  </a:moveTo>
                  <a:lnTo>
                    <a:pt x="12318" y="22098"/>
                  </a:lnTo>
                  <a:lnTo>
                    <a:pt x="43443" y="38445"/>
                  </a:lnTo>
                  <a:lnTo>
                    <a:pt x="33916" y="23241"/>
                  </a:lnTo>
                  <a:lnTo>
                    <a:pt x="17144" y="23241"/>
                  </a:lnTo>
                  <a:lnTo>
                    <a:pt x="24764" y="8636"/>
                  </a:lnTo>
                  <a:lnTo>
                    <a:pt x="27612" y="8636"/>
                  </a:lnTo>
                  <a:lnTo>
                    <a:pt x="21081" y="5207"/>
                  </a:lnTo>
                  <a:close/>
                </a:path>
                <a:path w="522604" h="285750">
                  <a:moveTo>
                    <a:pt x="24764" y="8636"/>
                  </a:moveTo>
                  <a:lnTo>
                    <a:pt x="17144" y="23241"/>
                  </a:lnTo>
                  <a:lnTo>
                    <a:pt x="33459" y="22512"/>
                  </a:lnTo>
                  <a:lnTo>
                    <a:pt x="24764" y="8636"/>
                  </a:lnTo>
                  <a:close/>
                </a:path>
                <a:path w="522604" h="285750">
                  <a:moveTo>
                    <a:pt x="33459" y="22512"/>
                  </a:moveTo>
                  <a:lnTo>
                    <a:pt x="17144" y="23241"/>
                  </a:lnTo>
                  <a:lnTo>
                    <a:pt x="33916" y="23241"/>
                  </a:lnTo>
                  <a:lnTo>
                    <a:pt x="33459" y="22512"/>
                  </a:lnTo>
                  <a:close/>
                </a:path>
                <a:path w="522604" h="285750">
                  <a:moveTo>
                    <a:pt x="27612" y="8636"/>
                  </a:moveTo>
                  <a:lnTo>
                    <a:pt x="24764" y="8636"/>
                  </a:lnTo>
                  <a:lnTo>
                    <a:pt x="33459" y="22512"/>
                  </a:lnTo>
                  <a:lnTo>
                    <a:pt x="52425" y="21665"/>
                  </a:lnTo>
                  <a:lnTo>
                    <a:pt x="27612" y="8636"/>
                  </a:lnTo>
                  <a:close/>
                </a:path>
                <a:path w="522604" h="285750">
                  <a:moveTo>
                    <a:pt x="114200" y="5207"/>
                  </a:moveTo>
                  <a:lnTo>
                    <a:pt x="21081" y="5207"/>
                  </a:lnTo>
                  <a:lnTo>
                    <a:pt x="52425" y="21665"/>
                  </a:lnTo>
                  <a:lnTo>
                    <a:pt x="110489" y="19050"/>
                  </a:lnTo>
                  <a:lnTo>
                    <a:pt x="114553" y="14605"/>
                  </a:lnTo>
                  <a:lnTo>
                    <a:pt x="114300" y="9271"/>
                  </a:lnTo>
                  <a:lnTo>
                    <a:pt x="114200" y="5207"/>
                  </a:lnTo>
                  <a:close/>
                </a:path>
              </a:pathLst>
            </a:custGeom>
            <a:solidFill>
              <a:srgbClr val="A9D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659747" y="4194302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828800" y="0"/>
                  </a:moveTo>
                  <a:lnTo>
                    <a:pt x="0" y="0"/>
                  </a:lnTo>
                  <a:lnTo>
                    <a:pt x="0" y="709930"/>
                  </a:lnTo>
                  <a:lnTo>
                    <a:pt x="1710435" y="709930"/>
                  </a:lnTo>
                  <a:lnTo>
                    <a:pt x="1828800" y="591693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1370183" y="478599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364" y="0"/>
                  </a:moveTo>
                  <a:lnTo>
                    <a:pt x="23622" y="23621"/>
                  </a:lnTo>
                  <a:lnTo>
                    <a:pt x="0" y="118236"/>
                  </a:lnTo>
                  <a:lnTo>
                    <a:pt x="118364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659747" y="4194302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710435" y="709930"/>
                  </a:moveTo>
                  <a:lnTo>
                    <a:pt x="1734057" y="615315"/>
                  </a:lnTo>
                  <a:lnTo>
                    <a:pt x="1828800" y="591693"/>
                  </a:lnTo>
                  <a:lnTo>
                    <a:pt x="1710435" y="709930"/>
                  </a:lnTo>
                  <a:lnTo>
                    <a:pt x="0" y="70993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591693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9959720" y="4335271"/>
            <a:ext cx="12293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Version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beta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9801732" y="3882135"/>
            <a:ext cx="775970" cy="321310"/>
          </a:xfrm>
          <a:custGeom>
            <a:avLst/>
            <a:gdLst/>
            <a:ahLst/>
            <a:cxnLst/>
            <a:rect l="l" t="t" r="r" b="b"/>
            <a:pathLst>
              <a:path w="775970" h="321310">
                <a:moveTo>
                  <a:pt x="54056" y="28358"/>
                </a:moveTo>
                <a:lnTo>
                  <a:pt x="35338" y="31473"/>
                </a:lnTo>
                <a:lnTo>
                  <a:pt x="47229" y="46228"/>
                </a:lnTo>
                <a:lnTo>
                  <a:pt x="768985" y="321182"/>
                </a:lnTo>
                <a:lnTo>
                  <a:pt x="775716" y="303275"/>
                </a:lnTo>
                <a:lnTo>
                  <a:pt x="54056" y="28358"/>
                </a:lnTo>
                <a:close/>
              </a:path>
              <a:path w="775970" h="321310">
                <a:moveTo>
                  <a:pt x="108331" y="0"/>
                </a:moveTo>
                <a:lnTo>
                  <a:pt x="0" y="18033"/>
                </a:lnTo>
                <a:lnTo>
                  <a:pt x="65532" y="99313"/>
                </a:lnTo>
                <a:lnTo>
                  <a:pt x="68834" y="103505"/>
                </a:lnTo>
                <a:lnTo>
                  <a:pt x="74930" y="104139"/>
                </a:lnTo>
                <a:lnTo>
                  <a:pt x="83058" y="97536"/>
                </a:lnTo>
                <a:lnTo>
                  <a:pt x="83693" y="91439"/>
                </a:lnTo>
                <a:lnTo>
                  <a:pt x="80391" y="87375"/>
                </a:lnTo>
                <a:lnTo>
                  <a:pt x="47229" y="46228"/>
                </a:lnTo>
                <a:lnTo>
                  <a:pt x="14224" y="33655"/>
                </a:lnTo>
                <a:lnTo>
                  <a:pt x="20955" y="15747"/>
                </a:lnTo>
                <a:lnTo>
                  <a:pt x="113624" y="15747"/>
                </a:lnTo>
                <a:lnTo>
                  <a:pt x="114935" y="13969"/>
                </a:lnTo>
                <a:lnTo>
                  <a:pt x="113157" y="3556"/>
                </a:lnTo>
                <a:lnTo>
                  <a:pt x="108331" y="0"/>
                </a:lnTo>
                <a:close/>
              </a:path>
              <a:path w="775970" h="321310">
                <a:moveTo>
                  <a:pt x="20955" y="15747"/>
                </a:moveTo>
                <a:lnTo>
                  <a:pt x="14224" y="33655"/>
                </a:lnTo>
                <a:lnTo>
                  <a:pt x="47229" y="46228"/>
                </a:lnTo>
                <a:lnTo>
                  <a:pt x="37505" y="34162"/>
                </a:lnTo>
                <a:lnTo>
                  <a:pt x="19176" y="34162"/>
                </a:lnTo>
                <a:lnTo>
                  <a:pt x="24971" y="18795"/>
                </a:lnTo>
                <a:lnTo>
                  <a:pt x="28956" y="18795"/>
                </a:lnTo>
                <a:lnTo>
                  <a:pt x="20955" y="15747"/>
                </a:lnTo>
                <a:close/>
              </a:path>
              <a:path w="775970" h="321310">
                <a:moveTo>
                  <a:pt x="25121" y="18795"/>
                </a:moveTo>
                <a:lnTo>
                  <a:pt x="24971" y="18795"/>
                </a:lnTo>
                <a:lnTo>
                  <a:pt x="19176" y="34162"/>
                </a:lnTo>
                <a:lnTo>
                  <a:pt x="35338" y="31473"/>
                </a:lnTo>
                <a:lnTo>
                  <a:pt x="25121" y="18795"/>
                </a:lnTo>
                <a:close/>
              </a:path>
              <a:path w="775970" h="321310">
                <a:moveTo>
                  <a:pt x="35338" y="31473"/>
                </a:moveTo>
                <a:lnTo>
                  <a:pt x="19176" y="34162"/>
                </a:lnTo>
                <a:lnTo>
                  <a:pt x="37505" y="34162"/>
                </a:lnTo>
                <a:lnTo>
                  <a:pt x="35338" y="31473"/>
                </a:lnTo>
                <a:close/>
              </a:path>
              <a:path w="775970" h="321310">
                <a:moveTo>
                  <a:pt x="28956" y="18795"/>
                </a:moveTo>
                <a:lnTo>
                  <a:pt x="25121" y="18795"/>
                </a:lnTo>
                <a:lnTo>
                  <a:pt x="35338" y="31473"/>
                </a:lnTo>
                <a:lnTo>
                  <a:pt x="54056" y="28358"/>
                </a:lnTo>
                <a:lnTo>
                  <a:pt x="28956" y="18795"/>
                </a:lnTo>
                <a:close/>
              </a:path>
              <a:path w="775970" h="321310">
                <a:moveTo>
                  <a:pt x="113624" y="15747"/>
                </a:moveTo>
                <a:lnTo>
                  <a:pt x="20955" y="15747"/>
                </a:lnTo>
                <a:lnTo>
                  <a:pt x="54056" y="28358"/>
                </a:lnTo>
                <a:lnTo>
                  <a:pt x="111378" y="18795"/>
                </a:lnTo>
                <a:lnTo>
                  <a:pt x="113624" y="15747"/>
                </a:lnTo>
                <a:close/>
              </a:path>
            </a:pathLst>
          </a:custGeom>
          <a:solidFill>
            <a:srgbClr val="A9D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81178" y="2512263"/>
            <a:ext cx="4072254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Développer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incréments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1652270" algn="l"/>
                <a:tab pos="2251710" algn="l"/>
                <a:tab pos="2952750" algn="l"/>
                <a:tab pos="3754120" algn="l"/>
              </a:tabLst>
            </a:pPr>
            <a:r>
              <a:rPr dirty="0" sz="1800" spc="-10">
                <a:latin typeface="Times New Roman"/>
                <a:cs typeface="Times New Roman"/>
              </a:rPr>
              <a:t>l'architecture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reste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stable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malgré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des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2883154" y="6426823"/>
            <a:ext cx="106045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0">
                <a:latin typeface="Arial MT"/>
                <a:cs typeface="Arial MT"/>
              </a:rPr>
              <a:t>•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3226054" y="6430060"/>
            <a:ext cx="4634230" cy="278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 sz="1800">
                <a:latin typeface="Times New Roman"/>
                <a:cs typeface="Times New Roman"/>
              </a:rPr>
              <a:t>englobe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conception,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codage,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tests,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intégration,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etc.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81178" y="3061461"/>
            <a:ext cx="407289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changements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mineurs</a:t>
            </a:r>
            <a:endParaRPr sz="18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contient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</a:t>
            </a:r>
            <a:r>
              <a:rPr dirty="0" sz="1800" spc="3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final</a:t>
            </a:r>
            <a:r>
              <a:rPr dirty="0" sz="1800" spc="3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tout</a:t>
            </a:r>
            <a:r>
              <a:rPr dirty="0" sz="1800" spc="3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ce</a:t>
            </a:r>
            <a:r>
              <a:rPr dirty="0" sz="1800" spc="3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qui </a:t>
            </a:r>
            <a:r>
              <a:rPr dirty="0" sz="1800">
                <a:latin typeface="Times New Roman"/>
                <a:cs typeface="Times New Roman"/>
              </a:rPr>
              <a:t>avait</a:t>
            </a:r>
            <a:r>
              <a:rPr dirty="0" sz="1800" spc="2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été</a:t>
            </a:r>
            <a:r>
              <a:rPr dirty="0" sz="1800" spc="2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planifié,</a:t>
            </a:r>
            <a:r>
              <a:rPr dirty="0" sz="1800" spc="27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il</a:t>
            </a:r>
            <a:r>
              <a:rPr dirty="0" sz="1800" spc="27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reste</a:t>
            </a:r>
            <a:r>
              <a:rPr dirty="0" sz="1800" spc="275">
                <a:latin typeface="Times New Roman"/>
                <a:cs typeface="Times New Roman"/>
              </a:rPr>
              <a:t>  </a:t>
            </a:r>
            <a:r>
              <a:rPr dirty="0" sz="1800" spc="-10">
                <a:latin typeface="Times New Roman"/>
                <a:cs typeface="Times New Roman"/>
              </a:rPr>
              <a:t>quelques erreurs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35"/>
              <a:t>Phases</a:t>
            </a:r>
            <a:r>
              <a:rPr dirty="0" sz="4400" spc="-50"/>
              <a:t> </a:t>
            </a:r>
            <a:r>
              <a:rPr dirty="0" sz="4400" spc="275"/>
              <a:t>N°3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110"/>
              <a:t>Construction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80871" y="2446401"/>
            <a:ext cx="999553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825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3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correspond</a:t>
            </a:r>
            <a:r>
              <a:rPr dirty="0" sz="1800" spc="3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production</a:t>
            </a:r>
            <a:r>
              <a:rPr dirty="0" sz="1800" spc="31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d’une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première</a:t>
            </a:r>
            <a:r>
              <a:rPr dirty="0" sz="1800" spc="3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version</a:t>
            </a:r>
            <a:r>
              <a:rPr dirty="0" sz="1800" spc="3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30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produit.</a:t>
            </a:r>
            <a:r>
              <a:rPr dirty="0" sz="1800" spc="30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Elle</a:t>
            </a:r>
            <a:r>
              <a:rPr dirty="0" sz="1800" spc="29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3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donc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fortement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centrée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sur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activités</a:t>
            </a:r>
            <a:r>
              <a:rPr dirty="0" sz="1800" spc="-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conception,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d’implémentation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test.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effet,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composants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fonctionnalités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non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implémentés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précédente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sont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ici.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</a:t>
            </a:r>
            <a:r>
              <a:rPr dirty="0" sz="1800" spc="3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cours</a:t>
            </a:r>
            <a:r>
              <a:rPr dirty="0" sz="1800" spc="3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3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phase,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gestion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3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contrôle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3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ressources</a:t>
            </a:r>
            <a:r>
              <a:rPr dirty="0" sz="1800" spc="3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ainsi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que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l’optimisation</a:t>
            </a:r>
            <a:r>
              <a:rPr dirty="0" sz="1800" spc="3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3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coûts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représentent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1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activités</a:t>
            </a:r>
            <a:r>
              <a:rPr dirty="0" sz="1800" spc="1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essentielles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aboutir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17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réalisation</a:t>
            </a:r>
            <a:r>
              <a:rPr dirty="0" sz="1800" spc="17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produit.</a:t>
            </a:r>
            <a:r>
              <a:rPr dirty="0" sz="1800" spc="1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parallèle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rédigé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le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manuel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utilisateur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l’application.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35"/>
              <a:t>Phases</a:t>
            </a:r>
            <a:r>
              <a:rPr dirty="0" sz="4400" spc="-50"/>
              <a:t> </a:t>
            </a:r>
            <a:r>
              <a:rPr dirty="0" sz="4400" spc="275"/>
              <a:t>N°4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125"/>
              <a:t>Transition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2343404"/>
            <a:ext cx="9736455" cy="4516120"/>
            <a:chOff x="833" y="2343404"/>
            <a:chExt cx="9736455" cy="4516120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53766" y="2343404"/>
              <a:ext cx="6783705" cy="762000"/>
            </a:xfrm>
            <a:custGeom>
              <a:avLst/>
              <a:gdLst/>
              <a:ahLst/>
              <a:cxnLst/>
              <a:rect l="l" t="t" r="r" b="b"/>
              <a:pathLst>
                <a:path w="6783705" h="762000">
                  <a:moveTo>
                    <a:pt x="6783324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6783324" y="762000"/>
                  </a:lnTo>
                  <a:lnTo>
                    <a:pt x="6783324" y="0"/>
                  </a:lnTo>
                  <a:close/>
                </a:path>
              </a:pathLst>
            </a:custGeom>
            <a:solidFill>
              <a:srgbClr val="397D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3122041" y="2495804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5955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12790" y="2495804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503541" y="2495804"/>
            <a:ext cx="2008505" cy="457200"/>
          </a:xfrm>
          <a:prstGeom prst="rect">
            <a:avLst/>
          </a:prstGeom>
          <a:solidFill>
            <a:srgbClr val="5FA400"/>
          </a:solidFill>
          <a:ln w="9525">
            <a:solidFill>
              <a:srgbClr val="FFFFF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65659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Cycle</a:t>
            </a:r>
            <a:r>
              <a:rPr dirty="0" sz="1800" spc="-9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796603" y="2948241"/>
            <a:ext cx="7324725" cy="1218565"/>
            <a:chOff x="2796603" y="2948241"/>
            <a:chExt cx="7324725" cy="1218565"/>
          </a:xfrm>
        </p:grpSpPr>
        <p:sp>
          <p:nvSpPr>
            <p:cNvPr id="12" name="object 12" descr=""/>
            <p:cNvSpPr/>
            <p:nvPr/>
          </p:nvSpPr>
          <p:spPr>
            <a:xfrm>
              <a:off x="2801366" y="2953004"/>
              <a:ext cx="7315200" cy="685800"/>
            </a:xfrm>
            <a:custGeom>
              <a:avLst/>
              <a:gdLst/>
              <a:ahLst/>
              <a:cxnLst/>
              <a:rect l="l" t="t" r="r" b="b"/>
              <a:pathLst>
                <a:path w="7315200" h="685800">
                  <a:moveTo>
                    <a:pt x="304800" y="0"/>
                  </a:moveTo>
                  <a:lnTo>
                    <a:pt x="0" y="685800"/>
                  </a:lnTo>
                </a:path>
                <a:path w="7315200" h="685800">
                  <a:moveTo>
                    <a:pt x="2328798" y="0"/>
                  </a:moveTo>
                  <a:lnTo>
                    <a:pt x="7315200" y="685800"/>
                  </a:lnTo>
                </a:path>
              </a:pathLst>
            </a:custGeom>
            <a:ln w="9525">
              <a:solidFill>
                <a:srgbClr val="3333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39945" y="362851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399"/>
                  </a:lnTo>
                  <a:lnTo>
                    <a:pt x="1828800" y="533399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639945" y="362851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399"/>
                  </a:moveTo>
                  <a:lnTo>
                    <a:pt x="1828800" y="533399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066410" y="3755263"/>
            <a:ext cx="9893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Elaboration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512242" y="3598735"/>
            <a:ext cx="1838325" cy="542925"/>
            <a:chOff x="6512242" y="3598735"/>
            <a:chExt cx="1838325" cy="542925"/>
          </a:xfrm>
        </p:grpSpPr>
        <p:sp>
          <p:nvSpPr>
            <p:cNvPr id="17" name="object 17" descr=""/>
            <p:cNvSpPr/>
            <p:nvPr/>
          </p:nvSpPr>
          <p:spPr>
            <a:xfrm>
              <a:off x="6517005" y="36034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517005" y="3603497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639945" y="3730497"/>
            <a:ext cx="37064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4853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Construction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240148" y="4441063"/>
            <a:ext cx="1280160" cy="420370"/>
            <a:chOff x="4240148" y="4441063"/>
            <a:chExt cx="1280160" cy="420370"/>
          </a:xfrm>
        </p:grpSpPr>
        <p:sp>
          <p:nvSpPr>
            <p:cNvPr id="21" name="object 21" descr=""/>
            <p:cNvSpPr/>
            <p:nvPr/>
          </p:nvSpPr>
          <p:spPr>
            <a:xfrm>
              <a:off x="4243323" y="4444238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10" h="414020">
                  <a:moveTo>
                    <a:pt x="1273683" y="0"/>
                  </a:moveTo>
                  <a:lnTo>
                    <a:pt x="0" y="0"/>
                  </a:lnTo>
                  <a:lnTo>
                    <a:pt x="0" y="413766"/>
                  </a:lnTo>
                  <a:lnTo>
                    <a:pt x="1204722" y="413766"/>
                  </a:lnTo>
                  <a:lnTo>
                    <a:pt x="1273683" y="344805"/>
                  </a:lnTo>
                  <a:lnTo>
                    <a:pt x="1273683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448045" y="4789043"/>
              <a:ext cx="69215" cy="69215"/>
            </a:xfrm>
            <a:custGeom>
              <a:avLst/>
              <a:gdLst/>
              <a:ahLst/>
              <a:cxnLst/>
              <a:rect l="l" t="t" r="r" b="b"/>
              <a:pathLst>
                <a:path w="69214" h="69214">
                  <a:moveTo>
                    <a:pt x="68961" y="0"/>
                  </a:moveTo>
                  <a:lnTo>
                    <a:pt x="13842" y="13842"/>
                  </a:lnTo>
                  <a:lnTo>
                    <a:pt x="0" y="68960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243323" y="4444238"/>
              <a:ext cx="1273810" cy="414020"/>
            </a:xfrm>
            <a:custGeom>
              <a:avLst/>
              <a:gdLst/>
              <a:ahLst/>
              <a:cxnLst/>
              <a:rect l="l" t="t" r="r" b="b"/>
              <a:pathLst>
                <a:path w="1273810" h="414020">
                  <a:moveTo>
                    <a:pt x="1204722" y="413766"/>
                  </a:moveTo>
                  <a:lnTo>
                    <a:pt x="1218564" y="358648"/>
                  </a:lnTo>
                  <a:lnTo>
                    <a:pt x="1273683" y="344805"/>
                  </a:lnTo>
                  <a:lnTo>
                    <a:pt x="1204722" y="413766"/>
                  </a:lnTo>
                  <a:lnTo>
                    <a:pt x="0" y="413766"/>
                  </a:lnTo>
                  <a:lnTo>
                    <a:pt x="0" y="0"/>
                  </a:lnTo>
                  <a:lnTo>
                    <a:pt x="1273683" y="0"/>
                  </a:lnTo>
                  <a:lnTo>
                    <a:pt x="1273683" y="344805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577334" y="4461764"/>
            <a:ext cx="605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Vision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781617" y="3634041"/>
            <a:ext cx="2106295" cy="816610"/>
            <a:chOff x="2781617" y="3634041"/>
            <a:chExt cx="2106295" cy="816610"/>
          </a:xfrm>
        </p:grpSpPr>
        <p:sp>
          <p:nvSpPr>
            <p:cNvPr id="26" name="object 26" descr=""/>
            <p:cNvSpPr/>
            <p:nvPr/>
          </p:nvSpPr>
          <p:spPr>
            <a:xfrm>
              <a:off x="4639944" y="4172203"/>
              <a:ext cx="247650" cy="278765"/>
            </a:xfrm>
            <a:custGeom>
              <a:avLst/>
              <a:gdLst/>
              <a:ahLst/>
              <a:cxnLst/>
              <a:rect l="l" t="t" r="r" b="b"/>
              <a:pathLst>
                <a:path w="247650" h="278764">
                  <a:moveTo>
                    <a:pt x="25022" y="28367"/>
                  </a:moveTo>
                  <a:lnTo>
                    <a:pt x="28691" y="46891"/>
                  </a:lnTo>
                  <a:lnTo>
                    <a:pt x="233044" y="278257"/>
                  </a:lnTo>
                  <a:lnTo>
                    <a:pt x="247395" y="265684"/>
                  </a:lnTo>
                  <a:lnTo>
                    <a:pt x="43054" y="34332"/>
                  </a:lnTo>
                  <a:lnTo>
                    <a:pt x="25022" y="28367"/>
                  </a:lnTo>
                  <a:close/>
                </a:path>
                <a:path w="247650" h="278764">
                  <a:moveTo>
                    <a:pt x="0" y="0"/>
                  </a:moveTo>
                  <a:lnTo>
                    <a:pt x="21335" y="107696"/>
                  </a:lnTo>
                  <a:lnTo>
                    <a:pt x="26288" y="111125"/>
                  </a:lnTo>
                  <a:lnTo>
                    <a:pt x="36702" y="109093"/>
                  </a:lnTo>
                  <a:lnTo>
                    <a:pt x="40004" y="104013"/>
                  </a:lnTo>
                  <a:lnTo>
                    <a:pt x="28691" y="46891"/>
                  </a:lnTo>
                  <a:lnTo>
                    <a:pt x="5333" y="20447"/>
                  </a:lnTo>
                  <a:lnTo>
                    <a:pt x="19684" y="7874"/>
                  </a:lnTo>
                  <a:lnTo>
                    <a:pt x="23766" y="7874"/>
                  </a:lnTo>
                  <a:lnTo>
                    <a:pt x="0" y="0"/>
                  </a:lnTo>
                  <a:close/>
                </a:path>
                <a:path w="247650" h="278764">
                  <a:moveTo>
                    <a:pt x="23766" y="7874"/>
                  </a:moveTo>
                  <a:lnTo>
                    <a:pt x="19684" y="7874"/>
                  </a:lnTo>
                  <a:lnTo>
                    <a:pt x="43054" y="34332"/>
                  </a:lnTo>
                  <a:lnTo>
                    <a:pt x="98297" y="52578"/>
                  </a:lnTo>
                  <a:lnTo>
                    <a:pt x="103631" y="49911"/>
                  </a:lnTo>
                  <a:lnTo>
                    <a:pt x="105282" y="44831"/>
                  </a:lnTo>
                  <a:lnTo>
                    <a:pt x="106933" y="39878"/>
                  </a:lnTo>
                  <a:lnTo>
                    <a:pt x="104266" y="34544"/>
                  </a:lnTo>
                  <a:lnTo>
                    <a:pt x="23766" y="7874"/>
                  </a:lnTo>
                  <a:close/>
                </a:path>
                <a:path w="247650" h="278764">
                  <a:moveTo>
                    <a:pt x="19684" y="7874"/>
                  </a:moveTo>
                  <a:lnTo>
                    <a:pt x="5333" y="20447"/>
                  </a:lnTo>
                  <a:lnTo>
                    <a:pt x="28691" y="46891"/>
                  </a:lnTo>
                  <a:lnTo>
                    <a:pt x="25022" y="28367"/>
                  </a:lnTo>
                  <a:lnTo>
                    <a:pt x="9525" y="23241"/>
                  </a:lnTo>
                  <a:lnTo>
                    <a:pt x="21843" y="12319"/>
                  </a:lnTo>
                  <a:lnTo>
                    <a:pt x="23611" y="12319"/>
                  </a:lnTo>
                  <a:lnTo>
                    <a:pt x="19684" y="7874"/>
                  </a:lnTo>
                  <a:close/>
                </a:path>
                <a:path w="247650" h="278764">
                  <a:moveTo>
                    <a:pt x="23611" y="12319"/>
                  </a:moveTo>
                  <a:lnTo>
                    <a:pt x="21843" y="12319"/>
                  </a:lnTo>
                  <a:lnTo>
                    <a:pt x="25022" y="28367"/>
                  </a:lnTo>
                  <a:lnTo>
                    <a:pt x="43054" y="34332"/>
                  </a:lnTo>
                  <a:lnTo>
                    <a:pt x="23611" y="12319"/>
                  </a:lnTo>
                  <a:close/>
                </a:path>
                <a:path w="247650" h="278764">
                  <a:moveTo>
                    <a:pt x="21843" y="12319"/>
                  </a:moveTo>
                  <a:lnTo>
                    <a:pt x="9525" y="23241"/>
                  </a:lnTo>
                  <a:lnTo>
                    <a:pt x="25022" y="28367"/>
                  </a:lnTo>
                  <a:lnTo>
                    <a:pt x="21843" y="12319"/>
                  </a:lnTo>
                  <a:close/>
                </a:path>
              </a:pathLst>
            </a:custGeom>
            <a:solidFill>
              <a:srgbClr val="A9D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786379" y="3638803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799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799" y="533400"/>
                  </a:lnTo>
                  <a:lnTo>
                    <a:pt x="1828799" y="0"/>
                  </a:lnTo>
                  <a:close/>
                </a:path>
              </a:pathLst>
            </a:custGeom>
            <a:solidFill>
              <a:srgbClr val="EBDD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786379" y="3638803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799" y="533400"/>
                  </a:lnTo>
                  <a:lnTo>
                    <a:pt x="1828799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3189732" y="3643325"/>
            <a:ext cx="1035685" cy="5137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588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Étude</a:t>
            </a:r>
            <a:endParaRPr sz="1600">
              <a:latin typeface="Franklin Gothic Medium"/>
              <a:cs typeface="Franklin Gothic Medium"/>
            </a:endParaRPr>
          </a:p>
          <a:p>
            <a:pPr algn="ctr" marR="5080">
              <a:lnSpc>
                <a:spcPct val="100000"/>
              </a:lnSpc>
              <a:spcBef>
                <a:spcPts val="5"/>
              </a:spcBef>
            </a:pPr>
            <a:r>
              <a:rPr dirty="0" sz="1600" spc="-25">
                <a:solidFill>
                  <a:srgbClr val="FFFFFF"/>
                </a:solidFill>
                <a:latin typeface="Franklin Gothic Medium"/>
                <a:cs typeface="Franklin Gothic Medium"/>
              </a:rPr>
              <a:t>préliminaire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8389429" y="3613721"/>
            <a:ext cx="1838325" cy="542925"/>
            <a:chOff x="8389429" y="3613721"/>
            <a:chExt cx="1838325" cy="542925"/>
          </a:xfrm>
        </p:grpSpPr>
        <p:sp>
          <p:nvSpPr>
            <p:cNvPr id="31" name="object 31" descr=""/>
            <p:cNvSpPr/>
            <p:nvPr/>
          </p:nvSpPr>
          <p:spPr>
            <a:xfrm>
              <a:off x="8394192" y="3618484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18288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1828800" y="5334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5200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394192" y="3618484"/>
              <a:ext cx="1828800" cy="533400"/>
            </a:xfrm>
            <a:custGeom>
              <a:avLst/>
              <a:gdLst/>
              <a:ahLst/>
              <a:cxnLst/>
              <a:rect l="l" t="t" r="r" b="b"/>
              <a:pathLst>
                <a:path w="1828800" h="533400">
                  <a:moveTo>
                    <a:pt x="0" y="533400"/>
                  </a:moveTo>
                  <a:lnTo>
                    <a:pt x="1828800" y="5334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6517005" y="3745484"/>
            <a:ext cx="36823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7426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Franklin Gothic Medium"/>
                <a:cs typeface="Franklin Gothic Medium"/>
              </a:rPr>
              <a:t>Transition</a:t>
            </a:r>
            <a:endParaRPr sz="1600">
              <a:latin typeface="Franklin Gothic Medium"/>
              <a:cs typeface="Franklin Gothic Medium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086347" y="4473447"/>
            <a:ext cx="1835150" cy="716280"/>
            <a:chOff x="6086347" y="4473447"/>
            <a:chExt cx="1835150" cy="716280"/>
          </a:xfrm>
        </p:grpSpPr>
        <p:sp>
          <p:nvSpPr>
            <p:cNvPr id="35" name="object 35" descr=""/>
            <p:cNvSpPr/>
            <p:nvPr/>
          </p:nvSpPr>
          <p:spPr>
            <a:xfrm>
              <a:off x="6089522" y="4476622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828800" y="0"/>
                  </a:moveTo>
                  <a:lnTo>
                    <a:pt x="0" y="0"/>
                  </a:lnTo>
                  <a:lnTo>
                    <a:pt x="0" y="709929"/>
                  </a:lnTo>
                  <a:lnTo>
                    <a:pt x="1710562" y="709929"/>
                  </a:lnTo>
                  <a:lnTo>
                    <a:pt x="1828800" y="591693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800085" y="506831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237" y="0"/>
                  </a:moveTo>
                  <a:lnTo>
                    <a:pt x="23622" y="23621"/>
                  </a:lnTo>
                  <a:lnTo>
                    <a:pt x="0" y="118236"/>
                  </a:lnTo>
                  <a:lnTo>
                    <a:pt x="118237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089522" y="4476622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710562" y="709929"/>
                  </a:moveTo>
                  <a:lnTo>
                    <a:pt x="1734184" y="615314"/>
                  </a:lnTo>
                  <a:lnTo>
                    <a:pt x="1828800" y="591693"/>
                  </a:lnTo>
                  <a:lnTo>
                    <a:pt x="1710562" y="709929"/>
                  </a:lnTo>
                  <a:lnTo>
                    <a:pt x="0" y="709929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591693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6261353" y="4480305"/>
            <a:ext cx="14833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latin typeface="Franklin Gothic Medium"/>
                <a:cs typeface="Franklin Gothic Medium"/>
              </a:rPr>
              <a:t>Architecture</a:t>
            </a:r>
            <a:r>
              <a:rPr dirty="0" sz="1800" spc="-15">
                <a:latin typeface="Franklin Gothic Medium"/>
                <a:cs typeface="Franklin Gothic Medium"/>
              </a:rPr>
              <a:t> </a:t>
            </a:r>
            <a:r>
              <a:rPr dirty="0" sz="1800" spc="-25">
                <a:latin typeface="Franklin Gothic Medium"/>
                <a:cs typeface="Franklin Gothic Medium"/>
              </a:rPr>
              <a:t>de</a:t>
            </a:r>
            <a:endParaRPr sz="1800">
              <a:latin typeface="Franklin Gothic Medium"/>
              <a:cs typeface="Franklin Gothic Medium"/>
            </a:endParaRPr>
          </a:p>
          <a:p>
            <a:pPr algn="ctr" marL="1905">
              <a:lnSpc>
                <a:spcPct val="100000"/>
              </a:lnSpc>
            </a:pPr>
            <a:r>
              <a:rPr dirty="0" sz="1800" spc="-20">
                <a:latin typeface="Franklin Gothic Medium"/>
                <a:cs typeface="Franklin Gothic Medium"/>
              </a:rPr>
              <a:t>base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6486271" y="4199890"/>
            <a:ext cx="3491865" cy="1022350"/>
            <a:chOff x="6486271" y="4199890"/>
            <a:chExt cx="3491865" cy="1022350"/>
          </a:xfrm>
        </p:grpSpPr>
        <p:sp>
          <p:nvSpPr>
            <p:cNvPr id="40" name="object 40" descr=""/>
            <p:cNvSpPr/>
            <p:nvPr/>
          </p:nvSpPr>
          <p:spPr>
            <a:xfrm>
              <a:off x="6486271" y="4199890"/>
              <a:ext cx="522605" cy="285750"/>
            </a:xfrm>
            <a:custGeom>
              <a:avLst/>
              <a:gdLst/>
              <a:ahLst/>
              <a:cxnLst/>
              <a:rect l="l" t="t" r="r" b="b"/>
              <a:pathLst>
                <a:path w="522604" h="285750">
                  <a:moveTo>
                    <a:pt x="52195" y="21548"/>
                  </a:moveTo>
                  <a:lnTo>
                    <a:pt x="33435" y="22386"/>
                  </a:lnTo>
                  <a:lnTo>
                    <a:pt x="43543" y="38564"/>
                  </a:lnTo>
                  <a:lnTo>
                    <a:pt x="513206" y="285242"/>
                  </a:lnTo>
                  <a:lnTo>
                    <a:pt x="522097" y="268351"/>
                  </a:lnTo>
                  <a:lnTo>
                    <a:pt x="52195" y="21548"/>
                  </a:lnTo>
                  <a:close/>
                </a:path>
                <a:path w="522604" h="285750">
                  <a:moveTo>
                    <a:pt x="109600" y="0"/>
                  </a:moveTo>
                  <a:lnTo>
                    <a:pt x="104394" y="127"/>
                  </a:lnTo>
                  <a:lnTo>
                    <a:pt x="0" y="4826"/>
                  </a:lnTo>
                  <a:lnTo>
                    <a:pt x="55372" y="93472"/>
                  </a:lnTo>
                  <a:lnTo>
                    <a:pt x="58165" y="97917"/>
                  </a:lnTo>
                  <a:lnTo>
                    <a:pt x="64007" y="99314"/>
                  </a:lnTo>
                  <a:lnTo>
                    <a:pt x="68579" y="96520"/>
                  </a:lnTo>
                  <a:lnTo>
                    <a:pt x="73025" y="93726"/>
                  </a:lnTo>
                  <a:lnTo>
                    <a:pt x="74295" y="87757"/>
                  </a:lnTo>
                  <a:lnTo>
                    <a:pt x="43543" y="38564"/>
                  </a:lnTo>
                  <a:lnTo>
                    <a:pt x="12191" y="22098"/>
                  </a:lnTo>
                  <a:lnTo>
                    <a:pt x="21081" y="5207"/>
                  </a:lnTo>
                  <a:lnTo>
                    <a:pt x="114101" y="5207"/>
                  </a:lnTo>
                  <a:lnTo>
                    <a:pt x="114046" y="4064"/>
                  </a:lnTo>
                  <a:lnTo>
                    <a:pt x="109600" y="0"/>
                  </a:lnTo>
                  <a:close/>
                </a:path>
                <a:path w="522604" h="285750">
                  <a:moveTo>
                    <a:pt x="21081" y="5207"/>
                  </a:moveTo>
                  <a:lnTo>
                    <a:pt x="12191" y="22098"/>
                  </a:lnTo>
                  <a:lnTo>
                    <a:pt x="43543" y="38564"/>
                  </a:lnTo>
                  <a:lnTo>
                    <a:pt x="33890" y="23114"/>
                  </a:lnTo>
                  <a:lnTo>
                    <a:pt x="17145" y="23114"/>
                  </a:lnTo>
                  <a:lnTo>
                    <a:pt x="24764" y="8509"/>
                  </a:lnTo>
                  <a:lnTo>
                    <a:pt x="27368" y="8509"/>
                  </a:lnTo>
                  <a:lnTo>
                    <a:pt x="21081" y="5207"/>
                  </a:lnTo>
                  <a:close/>
                </a:path>
                <a:path w="522604" h="285750">
                  <a:moveTo>
                    <a:pt x="24764" y="8509"/>
                  </a:moveTo>
                  <a:lnTo>
                    <a:pt x="17145" y="23114"/>
                  </a:lnTo>
                  <a:lnTo>
                    <a:pt x="33435" y="22386"/>
                  </a:lnTo>
                  <a:lnTo>
                    <a:pt x="24764" y="8509"/>
                  </a:lnTo>
                  <a:close/>
                </a:path>
                <a:path w="522604" h="285750">
                  <a:moveTo>
                    <a:pt x="33435" y="22386"/>
                  </a:moveTo>
                  <a:lnTo>
                    <a:pt x="17145" y="23114"/>
                  </a:lnTo>
                  <a:lnTo>
                    <a:pt x="33890" y="23114"/>
                  </a:lnTo>
                  <a:lnTo>
                    <a:pt x="33435" y="22386"/>
                  </a:lnTo>
                  <a:close/>
                </a:path>
                <a:path w="522604" h="285750">
                  <a:moveTo>
                    <a:pt x="27368" y="8509"/>
                  </a:moveTo>
                  <a:lnTo>
                    <a:pt x="24764" y="8509"/>
                  </a:lnTo>
                  <a:lnTo>
                    <a:pt x="33435" y="22386"/>
                  </a:lnTo>
                  <a:lnTo>
                    <a:pt x="52195" y="21548"/>
                  </a:lnTo>
                  <a:lnTo>
                    <a:pt x="27368" y="8509"/>
                  </a:lnTo>
                  <a:close/>
                </a:path>
                <a:path w="522604" h="285750">
                  <a:moveTo>
                    <a:pt x="114101" y="5207"/>
                  </a:moveTo>
                  <a:lnTo>
                    <a:pt x="21081" y="5207"/>
                  </a:lnTo>
                  <a:lnTo>
                    <a:pt x="52195" y="21548"/>
                  </a:lnTo>
                  <a:lnTo>
                    <a:pt x="110489" y="18923"/>
                  </a:lnTo>
                  <a:lnTo>
                    <a:pt x="114553" y="14478"/>
                  </a:lnTo>
                  <a:lnTo>
                    <a:pt x="114101" y="5207"/>
                  </a:lnTo>
                  <a:close/>
                </a:path>
              </a:pathLst>
            </a:custGeom>
            <a:solidFill>
              <a:srgbClr val="A9D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145653" y="4509135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828800" y="0"/>
                  </a:moveTo>
                  <a:lnTo>
                    <a:pt x="0" y="0"/>
                  </a:lnTo>
                  <a:lnTo>
                    <a:pt x="0" y="709929"/>
                  </a:lnTo>
                  <a:lnTo>
                    <a:pt x="1710563" y="709929"/>
                  </a:lnTo>
                  <a:lnTo>
                    <a:pt x="1828800" y="591565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856216" y="5100701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236" y="0"/>
                  </a:moveTo>
                  <a:lnTo>
                    <a:pt x="23622" y="23749"/>
                  </a:lnTo>
                  <a:lnTo>
                    <a:pt x="0" y="118363"/>
                  </a:lnTo>
                  <a:lnTo>
                    <a:pt x="118236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145653" y="4509135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710563" y="709929"/>
                  </a:moveTo>
                  <a:lnTo>
                    <a:pt x="1734185" y="615314"/>
                  </a:lnTo>
                  <a:lnTo>
                    <a:pt x="1828800" y="591565"/>
                  </a:lnTo>
                  <a:lnTo>
                    <a:pt x="1710563" y="709929"/>
                  </a:lnTo>
                  <a:lnTo>
                    <a:pt x="0" y="709929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591565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8445500" y="4650104"/>
            <a:ext cx="12293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Version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beta</a:t>
            </a:r>
            <a:endParaRPr sz="1800">
              <a:latin typeface="Franklin Gothic Medium"/>
              <a:cs typeface="Franklin Gothic Medium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8287639" y="4196969"/>
            <a:ext cx="3641725" cy="1012825"/>
            <a:chOff x="8287639" y="4196969"/>
            <a:chExt cx="3641725" cy="1012825"/>
          </a:xfrm>
        </p:grpSpPr>
        <p:sp>
          <p:nvSpPr>
            <p:cNvPr id="46" name="object 46" descr=""/>
            <p:cNvSpPr/>
            <p:nvPr/>
          </p:nvSpPr>
          <p:spPr>
            <a:xfrm>
              <a:off x="8287639" y="4196969"/>
              <a:ext cx="775970" cy="321310"/>
            </a:xfrm>
            <a:custGeom>
              <a:avLst/>
              <a:gdLst/>
              <a:ahLst/>
              <a:cxnLst/>
              <a:rect l="l" t="t" r="r" b="b"/>
              <a:pathLst>
                <a:path w="775970" h="321310">
                  <a:moveTo>
                    <a:pt x="54044" y="28305"/>
                  </a:moveTo>
                  <a:lnTo>
                    <a:pt x="35391" y="31382"/>
                  </a:lnTo>
                  <a:lnTo>
                    <a:pt x="47208" y="46045"/>
                  </a:lnTo>
                  <a:lnTo>
                    <a:pt x="769111" y="321055"/>
                  </a:lnTo>
                  <a:lnTo>
                    <a:pt x="775842" y="303275"/>
                  </a:lnTo>
                  <a:lnTo>
                    <a:pt x="54044" y="28305"/>
                  </a:lnTo>
                  <a:close/>
                </a:path>
                <a:path w="775970" h="321310">
                  <a:moveTo>
                    <a:pt x="108330" y="0"/>
                  </a:moveTo>
                  <a:lnTo>
                    <a:pt x="0" y="17906"/>
                  </a:lnTo>
                  <a:lnTo>
                    <a:pt x="68960" y="103377"/>
                  </a:lnTo>
                  <a:lnTo>
                    <a:pt x="74929" y="104012"/>
                  </a:lnTo>
                  <a:lnTo>
                    <a:pt x="79120" y="100710"/>
                  </a:lnTo>
                  <a:lnTo>
                    <a:pt x="83184" y="97408"/>
                  </a:lnTo>
                  <a:lnTo>
                    <a:pt x="83819" y="91439"/>
                  </a:lnTo>
                  <a:lnTo>
                    <a:pt x="80517" y="87375"/>
                  </a:lnTo>
                  <a:lnTo>
                    <a:pt x="47208" y="46045"/>
                  </a:lnTo>
                  <a:lnTo>
                    <a:pt x="14350" y="33527"/>
                  </a:lnTo>
                  <a:lnTo>
                    <a:pt x="21081" y="15747"/>
                  </a:lnTo>
                  <a:lnTo>
                    <a:pt x="113694" y="15747"/>
                  </a:lnTo>
                  <a:lnTo>
                    <a:pt x="115061" y="13842"/>
                  </a:lnTo>
                  <a:lnTo>
                    <a:pt x="113283" y="3555"/>
                  </a:lnTo>
                  <a:lnTo>
                    <a:pt x="108330" y="0"/>
                  </a:lnTo>
                  <a:close/>
                </a:path>
                <a:path w="775970" h="321310">
                  <a:moveTo>
                    <a:pt x="21081" y="15747"/>
                  </a:moveTo>
                  <a:lnTo>
                    <a:pt x="14350" y="33527"/>
                  </a:lnTo>
                  <a:lnTo>
                    <a:pt x="47208" y="46045"/>
                  </a:lnTo>
                  <a:lnTo>
                    <a:pt x="37530" y="34035"/>
                  </a:lnTo>
                  <a:lnTo>
                    <a:pt x="19303" y="34035"/>
                  </a:lnTo>
                  <a:lnTo>
                    <a:pt x="25097" y="18795"/>
                  </a:lnTo>
                  <a:lnTo>
                    <a:pt x="29082" y="18795"/>
                  </a:lnTo>
                  <a:lnTo>
                    <a:pt x="21081" y="15747"/>
                  </a:lnTo>
                  <a:close/>
                </a:path>
                <a:path w="775970" h="321310">
                  <a:moveTo>
                    <a:pt x="25248" y="18795"/>
                  </a:moveTo>
                  <a:lnTo>
                    <a:pt x="25097" y="18795"/>
                  </a:lnTo>
                  <a:lnTo>
                    <a:pt x="19303" y="34035"/>
                  </a:lnTo>
                  <a:lnTo>
                    <a:pt x="35391" y="31382"/>
                  </a:lnTo>
                  <a:lnTo>
                    <a:pt x="25248" y="18795"/>
                  </a:lnTo>
                  <a:close/>
                </a:path>
                <a:path w="775970" h="321310">
                  <a:moveTo>
                    <a:pt x="35391" y="31382"/>
                  </a:moveTo>
                  <a:lnTo>
                    <a:pt x="19303" y="34035"/>
                  </a:lnTo>
                  <a:lnTo>
                    <a:pt x="37530" y="34035"/>
                  </a:lnTo>
                  <a:lnTo>
                    <a:pt x="35391" y="31382"/>
                  </a:lnTo>
                  <a:close/>
                </a:path>
                <a:path w="775970" h="321310">
                  <a:moveTo>
                    <a:pt x="29082" y="18795"/>
                  </a:moveTo>
                  <a:lnTo>
                    <a:pt x="25248" y="18795"/>
                  </a:lnTo>
                  <a:lnTo>
                    <a:pt x="35391" y="31382"/>
                  </a:lnTo>
                  <a:lnTo>
                    <a:pt x="54044" y="28305"/>
                  </a:lnTo>
                  <a:lnTo>
                    <a:pt x="29082" y="18795"/>
                  </a:lnTo>
                  <a:close/>
                </a:path>
                <a:path w="775970" h="321310">
                  <a:moveTo>
                    <a:pt x="113694" y="15747"/>
                  </a:moveTo>
                  <a:lnTo>
                    <a:pt x="21081" y="15747"/>
                  </a:lnTo>
                  <a:lnTo>
                    <a:pt x="54044" y="28305"/>
                  </a:lnTo>
                  <a:lnTo>
                    <a:pt x="111505" y="18795"/>
                  </a:lnTo>
                  <a:lnTo>
                    <a:pt x="113694" y="15747"/>
                  </a:lnTo>
                  <a:close/>
                </a:path>
              </a:pathLst>
            </a:custGeom>
            <a:solidFill>
              <a:srgbClr val="A9D3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096881" y="4496689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828800" y="0"/>
                  </a:moveTo>
                  <a:lnTo>
                    <a:pt x="0" y="0"/>
                  </a:lnTo>
                  <a:lnTo>
                    <a:pt x="0" y="709930"/>
                  </a:lnTo>
                  <a:lnTo>
                    <a:pt x="1710563" y="709930"/>
                  </a:lnTo>
                  <a:lnTo>
                    <a:pt x="1828800" y="591566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29B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1807444" y="5088255"/>
              <a:ext cx="118745" cy="118745"/>
            </a:xfrm>
            <a:custGeom>
              <a:avLst/>
              <a:gdLst/>
              <a:ahLst/>
              <a:cxnLst/>
              <a:rect l="l" t="t" r="r" b="b"/>
              <a:pathLst>
                <a:path w="118745" h="118745">
                  <a:moveTo>
                    <a:pt x="118236" y="0"/>
                  </a:moveTo>
                  <a:lnTo>
                    <a:pt x="23622" y="23622"/>
                  </a:lnTo>
                  <a:lnTo>
                    <a:pt x="0" y="118364"/>
                  </a:lnTo>
                  <a:lnTo>
                    <a:pt x="118236" y="0"/>
                  </a:lnTo>
                  <a:close/>
                </a:path>
              </a:pathLst>
            </a:custGeom>
            <a:solidFill>
              <a:srgbClr val="2094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096881" y="4496689"/>
              <a:ext cx="1828800" cy="709930"/>
            </a:xfrm>
            <a:custGeom>
              <a:avLst/>
              <a:gdLst/>
              <a:ahLst/>
              <a:cxnLst/>
              <a:rect l="l" t="t" r="r" b="b"/>
              <a:pathLst>
                <a:path w="1828800" h="709929">
                  <a:moveTo>
                    <a:pt x="1710563" y="709930"/>
                  </a:moveTo>
                  <a:lnTo>
                    <a:pt x="1734185" y="615188"/>
                  </a:lnTo>
                  <a:lnTo>
                    <a:pt x="1828800" y="591566"/>
                  </a:lnTo>
                  <a:lnTo>
                    <a:pt x="1710563" y="709930"/>
                  </a:lnTo>
                  <a:lnTo>
                    <a:pt x="0" y="709930"/>
                  </a:lnTo>
                  <a:lnTo>
                    <a:pt x="0" y="0"/>
                  </a:lnTo>
                  <a:lnTo>
                    <a:pt x="1828800" y="0"/>
                  </a:lnTo>
                  <a:lnTo>
                    <a:pt x="1828800" y="591566"/>
                  </a:lnTo>
                </a:path>
              </a:pathLst>
            </a:custGeom>
            <a:ln w="6350">
              <a:solidFill>
                <a:srgbClr val="A9D3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0421493" y="4637658"/>
            <a:ext cx="1177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Franklin Gothic Medium"/>
                <a:cs typeface="Franklin Gothic Medium"/>
              </a:rPr>
              <a:t>Produit</a:t>
            </a:r>
            <a:r>
              <a:rPr dirty="0" sz="1800" spc="-7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livré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10238867" y="4184522"/>
            <a:ext cx="775970" cy="321310"/>
          </a:xfrm>
          <a:custGeom>
            <a:avLst/>
            <a:gdLst/>
            <a:ahLst/>
            <a:cxnLst/>
            <a:rect l="l" t="t" r="r" b="b"/>
            <a:pathLst>
              <a:path w="775970" h="321310">
                <a:moveTo>
                  <a:pt x="53951" y="28269"/>
                </a:moveTo>
                <a:lnTo>
                  <a:pt x="35391" y="31358"/>
                </a:lnTo>
                <a:lnTo>
                  <a:pt x="47268" y="46067"/>
                </a:lnTo>
                <a:lnTo>
                  <a:pt x="769111" y="321056"/>
                </a:lnTo>
                <a:lnTo>
                  <a:pt x="775842" y="303275"/>
                </a:lnTo>
                <a:lnTo>
                  <a:pt x="53951" y="28269"/>
                </a:lnTo>
                <a:close/>
              </a:path>
              <a:path w="775970" h="321310">
                <a:moveTo>
                  <a:pt x="108330" y="0"/>
                </a:moveTo>
                <a:lnTo>
                  <a:pt x="103124" y="762"/>
                </a:lnTo>
                <a:lnTo>
                  <a:pt x="0" y="17906"/>
                </a:lnTo>
                <a:lnTo>
                  <a:pt x="68960" y="103377"/>
                </a:lnTo>
                <a:lnTo>
                  <a:pt x="74929" y="104012"/>
                </a:lnTo>
                <a:lnTo>
                  <a:pt x="79121" y="100710"/>
                </a:lnTo>
                <a:lnTo>
                  <a:pt x="47268" y="46067"/>
                </a:lnTo>
                <a:lnTo>
                  <a:pt x="14350" y="33527"/>
                </a:lnTo>
                <a:lnTo>
                  <a:pt x="21081" y="15747"/>
                </a:lnTo>
                <a:lnTo>
                  <a:pt x="113616" y="15747"/>
                </a:lnTo>
                <a:lnTo>
                  <a:pt x="114934" y="13843"/>
                </a:lnTo>
                <a:lnTo>
                  <a:pt x="114173" y="8635"/>
                </a:lnTo>
                <a:lnTo>
                  <a:pt x="113283" y="3428"/>
                </a:lnTo>
                <a:lnTo>
                  <a:pt x="108330" y="0"/>
                </a:lnTo>
                <a:close/>
              </a:path>
              <a:path w="775970" h="321310">
                <a:moveTo>
                  <a:pt x="21081" y="15747"/>
                </a:moveTo>
                <a:lnTo>
                  <a:pt x="14350" y="33527"/>
                </a:lnTo>
                <a:lnTo>
                  <a:pt x="47268" y="46067"/>
                </a:lnTo>
                <a:lnTo>
                  <a:pt x="37553" y="34035"/>
                </a:lnTo>
                <a:lnTo>
                  <a:pt x="19303" y="34035"/>
                </a:lnTo>
                <a:lnTo>
                  <a:pt x="25097" y="18795"/>
                </a:lnTo>
                <a:lnTo>
                  <a:pt x="29082" y="18795"/>
                </a:lnTo>
                <a:lnTo>
                  <a:pt x="21081" y="15747"/>
                </a:lnTo>
                <a:close/>
              </a:path>
              <a:path w="775970" h="321310">
                <a:moveTo>
                  <a:pt x="25248" y="18795"/>
                </a:moveTo>
                <a:lnTo>
                  <a:pt x="25097" y="18795"/>
                </a:lnTo>
                <a:lnTo>
                  <a:pt x="19303" y="34035"/>
                </a:lnTo>
                <a:lnTo>
                  <a:pt x="35391" y="31358"/>
                </a:lnTo>
                <a:lnTo>
                  <a:pt x="25248" y="18795"/>
                </a:lnTo>
                <a:close/>
              </a:path>
              <a:path w="775970" h="321310">
                <a:moveTo>
                  <a:pt x="35391" y="31358"/>
                </a:moveTo>
                <a:lnTo>
                  <a:pt x="19303" y="34035"/>
                </a:lnTo>
                <a:lnTo>
                  <a:pt x="37553" y="34035"/>
                </a:lnTo>
                <a:lnTo>
                  <a:pt x="35391" y="31358"/>
                </a:lnTo>
                <a:close/>
              </a:path>
              <a:path w="775970" h="321310">
                <a:moveTo>
                  <a:pt x="29082" y="18795"/>
                </a:moveTo>
                <a:lnTo>
                  <a:pt x="25248" y="18795"/>
                </a:lnTo>
                <a:lnTo>
                  <a:pt x="35391" y="31358"/>
                </a:lnTo>
                <a:lnTo>
                  <a:pt x="53951" y="28269"/>
                </a:lnTo>
                <a:lnTo>
                  <a:pt x="29082" y="18795"/>
                </a:lnTo>
                <a:close/>
              </a:path>
              <a:path w="775970" h="321310">
                <a:moveTo>
                  <a:pt x="113616" y="15747"/>
                </a:moveTo>
                <a:lnTo>
                  <a:pt x="21081" y="15747"/>
                </a:lnTo>
                <a:lnTo>
                  <a:pt x="53951" y="28269"/>
                </a:lnTo>
                <a:lnTo>
                  <a:pt x="106299" y="19557"/>
                </a:lnTo>
                <a:lnTo>
                  <a:pt x="111505" y="18795"/>
                </a:lnTo>
                <a:lnTo>
                  <a:pt x="113616" y="15747"/>
                </a:lnTo>
                <a:close/>
              </a:path>
            </a:pathLst>
          </a:custGeom>
          <a:solidFill>
            <a:srgbClr val="A9D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35"/>
              <a:t>Phases</a:t>
            </a:r>
            <a:r>
              <a:rPr dirty="0" sz="4400" spc="-50"/>
              <a:t> </a:t>
            </a:r>
            <a:r>
              <a:rPr dirty="0" sz="4400" spc="275"/>
              <a:t>N°4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125"/>
              <a:t>Transition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925573" y="2296224"/>
            <a:ext cx="9372600" cy="3449954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35"/>
              </a:spcBef>
              <a:buClr>
                <a:srgbClr val="EFAC00"/>
              </a:buClr>
              <a:buSzPct val="80555"/>
              <a:buFont typeface="Cambria"/>
              <a:buChar char="◾"/>
              <a:tabLst>
                <a:tab pos="332105" algn="l"/>
              </a:tabLst>
            </a:pPr>
            <a:r>
              <a:rPr dirty="0" sz="1800" spc="-10">
                <a:latin typeface="Times New Roman"/>
                <a:cs typeface="Times New Roman"/>
              </a:rPr>
              <a:t>Transition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livrer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déployer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produit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0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corriger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reliquat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d’erreurs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améliorer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produit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0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former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utilisateurs</a:t>
            </a:r>
            <a:endParaRPr sz="1800">
              <a:latin typeface="Times New Roman"/>
              <a:cs typeface="Times New Roman"/>
            </a:endParaRPr>
          </a:p>
          <a:p>
            <a:pPr lvl="1" marL="624840" indent="-274320">
              <a:lnSpc>
                <a:spcPct val="100000"/>
              </a:lnSpc>
              <a:spcBef>
                <a:spcPts val="434"/>
              </a:spcBef>
              <a:buClr>
                <a:srgbClr val="5FB5CC"/>
              </a:buClr>
              <a:buSzPct val="88888"/>
              <a:buFont typeface="Wingdings"/>
              <a:buChar char=""/>
              <a:tabLst>
                <a:tab pos="624840" algn="l"/>
              </a:tabLst>
            </a:pPr>
            <a:r>
              <a:rPr dirty="0" sz="1800">
                <a:latin typeface="Times New Roman"/>
                <a:cs typeface="Times New Roman"/>
              </a:rPr>
              <a:t>lettre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l’assistance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ligne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 marR="126936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Jalon</a:t>
            </a:r>
            <a:endParaRPr sz="1800">
              <a:latin typeface="Times New Roman"/>
              <a:cs typeface="Times New Roman"/>
            </a:endParaRPr>
          </a:p>
          <a:p>
            <a:pPr algn="ctr" marL="4264025" marR="508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«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livraison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»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déployé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chez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client </a:t>
            </a:r>
            <a:r>
              <a:rPr dirty="0" sz="1800">
                <a:latin typeface="Times New Roman"/>
                <a:cs typeface="Times New Roman"/>
              </a:rPr>
              <a:t>tests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suffisants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?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Produit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satisfaisant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?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Manuels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prêts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35"/>
              <a:t>Phases</a:t>
            </a:r>
            <a:r>
              <a:rPr dirty="0" sz="4400" spc="-50"/>
              <a:t> </a:t>
            </a:r>
            <a:r>
              <a:rPr dirty="0" sz="4400" spc="275"/>
              <a:t>N°3</a:t>
            </a:r>
            <a:r>
              <a:rPr dirty="0" sz="4400"/>
              <a:t> </a:t>
            </a:r>
            <a:r>
              <a:rPr dirty="0" sz="4400" spc="-340"/>
              <a:t>:</a:t>
            </a:r>
            <a:r>
              <a:rPr dirty="0" sz="4400" spc="35"/>
              <a:t> </a:t>
            </a:r>
            <a:r>
              <a:rPr dirty="0" sz="4400" spc="-125"/>
              <a:t>Transition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29258" y="2538476"/>
            <a:ext cx="996315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Après</a:t>
            </a:r>
            <a:r>
              <a:rPr dirty="0" sz="1800" spc="2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254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opérations</a:t>
            </a:r>
            <a:r>
              <a:rPr dirty="0" sz="1800" spc="2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2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test</a:t>
            </a:r>
            <a:r>
              <a:rPr dirty="0" sz="1800" spc="2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menées</a:t>
            </a:r>
            <a:r>
              <a:rPr dirty="0" sz="1800" spc="254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254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2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2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précédente,</a:t>
            </a:r>
            <a:r>
              <a:rPr dirty="0" sz="1800" spc="2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il</a:t>
            </a:r>
            <a:r>
              <a:rPr dirty="0" sz="1800" spc="254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s’agit</a:t>
            </a:r>
            <a:r>
              <a:rPr dirty="0" sz="1800" spc="2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2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2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254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2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livrer</a:t>
            </a:r>
            <a:r>
              <a:rPr dirty="0" sz="1800" spc="23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 b="1">
                <a:solidFill>
                  <a:srgbClr val="2D2D2C"/>
                </a:solidFill>
                <a:latin typeface="Times New Roman"/>
                <a:cs typeface="Times New Roman"/>
              </a:rPr>
              <a:t>le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produit</a:t>
            </a:r>
            <a:r>
              <a:rPr dirty="0" sz="1800" spc="6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exploitation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réelle.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C’est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ainsi</a:t>
            </a:r>
            <a:r>
              <a:rPr dirty="0" sz="1800" spc="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que</a:t>
            </a:r>
            <a:r>
              <a:rPr dirty="0" sz="1800" spc="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toutes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actions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liées</a:t>
            </a:r>
            <a:r>
              <a:rPr dirty="0" sz="1800" spc="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déploiement</a:t>
            </a:r>
            <a:r>
              <a:rPr dirty="0" sz="1800" spc="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sont</a:t>
            </a:r>
            <a:r>
              <a:rPr dirty="0" sz="1800" spc="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traitées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phase.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plus,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«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bêta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tests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»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sont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effectués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valider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nouveau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auprès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utilisateurs.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Itération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57147" y="2585973"/>
            <a:ext cx="10419715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peut-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être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divisée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itérations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.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itération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est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circuit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complet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développement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aboutissant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à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livraison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(interne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ou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externe)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d’un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produit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exécutable.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D2D2C"/>
              </a:buClr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produit est un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sous-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ensemble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 produit final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cours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 développement,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qui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croît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incrémentalement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d’itération</a:t>
            </a:r>
            <a:r>
              <a:rPr dirty="0" sz="1800" spc="-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itération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devenir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final.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Chaque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itération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sein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d’une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aboutit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livraison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exécutable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système.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659" y="546862"/>
            <a:ext cx="5782945" cy="1233170"/>
          </a:xfrm>
          <a:prstGeom prst="rect"/>
        </p:spPr>
        <p:txBody>
          <a:bodyPr wrap="square" lIns="0" tIns="14732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1160"/>
              </a:spcBef>
            </a:pPr>
            <a:r>
              <a:rPr dirty="0" sz="4400" spc="-70"/>
              <a:t>Activités</a:t>
            </a:r>
            <a:r>
              <a:rPr dirty="0" sz="4400" spc="-65"/>
              <a:t> </a:t>
            </a:r>
            <a:r>
              <a:rPr dirty="0" sz="4400" spc="-275"/>
              <a:t>du</a:t>
            </a:r>
            <a:r>
              <a:rPr dirty="0" sz="4400" spc="-35"/>
              <a:t> </a:t>
            </a:r>
            <a:r>
              <a:rPr dirty="0" sz="4400" spc="-190"/>
              <a:t>processus </a:t>
            </a:r>
            <a:r>
              <a:rPr dirty="0" sz="4400" spc="-114"/>
              <a:t>Aspect</a:t>
            </a:r>
            <a:r>
              <a:rPr dirty="0" sz="4400" spc="-180"/>
              <a:t> </a:t>
            </a:r>
            <a:r>
              <a:rPr dirty="0" sz="4400" spc="-10"/>
              <a:t>statique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2273045"/>
            <a:ext cx="10483850" cy="4586605"/>
            <a:chOff x="833" y="2273045"/>
            <a:chExt cx="10483850" cy="458660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5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69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600" y="2273045"/>
              <a:ext cx="7969504" cy="3967734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659" y="1083005"/>
            <a:ext cx="225742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90" b="1">
                <a:latin typeface="Arial"/>
                <a:cs typeface="Arial"/>
              </a:rPr>
              <a:t>Activités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2024124"/>
            <a:ext cx="11467465" cy="4835525"/>
            <a:chOff x="833" y="2024124"/>
            <a:chExt cx="11467465" cy="483552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5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2198" y="2024124"/>
              <a:ext cx="8605774" cy="483387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4625085" y="798068"/>
            <a:ext cx="6528434" cy="605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Times New Roman"/>
                <a:cs typeface="Times New Roman"/>
              </a:rPr>
              <a:t>Un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cycle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jeu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activités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28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Times New Roman"/>
                <a:cs typeface="Times New Roman"/>
              </a:rPr>
              <a:t>Vue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développement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sous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l’angle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technique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(développeur)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60"/>
              <a:t>Activités</a:t>
            </a:r>
            <a:r>
              <a:rPr dirty="0" sz="4400" spc="-250"/>
              <a:t> </a:t>
            </a:r>
            <a:r>
              <a:rPr dirty="0" sz="4400"/>
              <a:t>de</a:t>
            </a:r>
            <a:r>
              <a:rPr dirty="0" sz="4400" spc="-260"/>
              <a:t> </a:t>
            </a:r>
            <a:r>
              <a:rPr dirty="0" sz="4400" spc="-185"/>
              <a:t>processus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660905" y="2427097"/>
            <a:ext cx="2560955" cy="34036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45"/>
              </a:lnSpc>
            </a:pPr>
            <a:r>
              <a:rPr dirty="0" sz="2200" i="1">
                <a:solidFill>
                  <a:srgbClr val="2D2D2C"/>
                </a:solidFill>
                <a:latin typeface="Calibri"/>
                <a:cs typeface="Calibri"/>
              </a:rPr>
              <a:t>Expression</a:t>
            </a:r>
            <a:r>
              <a:rPr dirty="0" sz="2200" spc="-40" i="1">
                <a:solidFill>
                  <a:srgbClr val="2D2D2C"/>
                </a:solidFill>
                <a:latin typeface="Calibri"/>
                <a:cs typeface="Calibri"/>
              </a:rPr>
              <a:t> </a:t>
            </a:r>
            <a:r>
              <a:rPr dirty="0" sz="2200" i="1">
                <a:solidFill>
                  <a:srgbClr val="2D2D2C"/>
                </a:solidFill>
                <a:latin typeface="Calibri"/>
                <a:cs typeface="Calibri"/>
              </a:rPr>
              <a:t>des</a:t>
            </a:r>
            <a:r>
              <a:rPr dirty="0" sz="2200" spc="-35" i="1">
                <a:solidFill>
                  <a:srgbClr val="2D2D2C"/>
                </a:solidFill>
                <a:latin typeface="Calibri"/>
                <a:cs typeface="Calibri"/>
              </a:rPr>
              <a:t> </a:t>
            </a:r>
            <a:r>
              <a:rPr dirty="0" sz="2200" spc="-10" i="1">
                <a:solidFill>
                  <a:srgbClr val="2D2D2C"/>
                </a:solidFill>
                <a:latin typeface="Calibri"/>
                <a:cs typeface="Calibri"/>
              </a:rPr>
              <a:t>besoins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1648460" y="3021279"/>
            <a:ext cx="974217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UP</a:t>
            </a:r>
            <a:r>
              <a:rPr dirty="0" sz="1800" spc="2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propose</a:t>
            </a:r>
            <a:r>
              <a:rPr dirty="0" sz="1800" spc="3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d’appréhender</a:t>
            </a:r>
            <a:r>
              <a:rPr dirty="0" sz="1800" spc="3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expression</a:t>
            </a:r>
            <a:r>
              <a:rPr dirty="0" sz="1800" spc="32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31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besoins</a:t>
            </a:r>
            <a:r>
              <a:rPr dirty="0" sz="1800" spc="31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3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se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fondant</a:t>
            </a:r>
            <a:r>
              <a:rPr dirty="0" sz="1800" spc="3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sur</a:t>
            </a:r>
            <a:r>
              <a:rPr dirty="0" sz="1800" spc="31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3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bonne</a:t>
            </a:r>
            <a:r>
              <a:rPr dirty="0" sz="1800" spc="3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compréhension</a:t>
            </a:r>
            <a:r>
              <a:rPr dirty="0" sz="1800" spc="3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endParaRPr sz="1800">
              <a:latin typeface="Times New Roman"/>
              <a:cs typeface="Times New Roman"/>
            </a:endParaRPr>
          </a:p>
          <a:p>
            <a:pPr marL="12700" marR="1485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domaine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concerné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développer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une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modélisation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procédures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existant.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Ainsi,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UP</a:t>
            </a:r>
            <a:r>
              <a:rPr dirty="0" sz="1800" spc="-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distingue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deux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types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 besoins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buChar char="•"/>
              <a:tabLst>
                <a:tab pos="14922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besoins</a:t>
            </a:r>
            <a:r>
              <a:rPr dirty="0" sz="1800" spc="-1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fonctionnels,</a:t>
            </a:r>
            <a:endParaRPr sz="180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buChar char="•"/>
              <a:tabLst>
                <a:tab pos="14922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besoins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non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fonctionnels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(techniques)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,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60"/>
              <a:t>Activités</a:t>
            </a:r>
            <a:r>
              <a:rPr dirty="0" sz="4400" spc="-250"/>
              <a:t> </a:t>
            </a:r>
            <a:r>
              <a:rPr dirty="0" sz="4400"/>
              <a:t>de</a:t>
            </a:r>
            <a:r>
              <a:rPr dirty="0" sz="4400" spc="-260"/>
              <a:t> </a:t>
            </a:r>
            <a:r>
              <a:rPr dirty="0" sz="4400" spc="-185"/>
              <a:t>processus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417952" y="2889885"/>
            <a:ext cx="1289685" cy="30988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65"/>
              </a:lnSpc>
            </a:pPr>
            <a:r>
              <a:rPr dirty="0" sz="2200" spc="-10" i="1">
                <a:solidFill>
                  <a:srgbClr val="2D2D2C"/>
                </a:solidFill>
                <a:latin typeface="Times New Roman"/>
                <a:cs typeface="Times New Roman"/>
              </a:rPr>
              <a:t>Conception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2405633" y="3454145"/>
            <a:ext cx="898715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conception</a:t>
            </a:r>
            <a:r>
              <a:rPr dirty="0" sz="1800" spc="-3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prend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compte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choix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d’architecture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technique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retenus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pour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développement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l’exploitation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17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système.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16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conception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permet</a:t>
            </a:r>
            <a:r>
              <a:rPr dirty="0" sz="1800" spc="18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d’étendre</a:t>
            </a:r>
            <a:r>
              <a:rPr dirty="0" sz="1800" spc="1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1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représentation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17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diagrammes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effectuée</a:t>
            </a:r>
            <a:r>
              <a:rPr dirty="0" sz="1800" spc="9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niveau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l’analyse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8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y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intégrant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aspects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techniques</a:t>
            </a:r>
            <a:r>
              <a:rPr dirty="0" sz="1800" spc="10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plus</a:t>
            </a:r>
            <a:r>
              <a:rPr dirty="0" sz="1800" spc="10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proches</a:t>
            </a:r>
            <a:r>
              <a:rPr dirty="0" sz="1800" spc="95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des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préoccupations</a:t>
            </a:r>
            <a:r>
              <a:rPr dirty="0" sz="1800" spc="-8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physiques.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60"/>
              <a:t>Activités</a:t>
            </a:r>
            <a:r>
              <a:rPr dirty="0" sz="4400" spc="-250"/>
              <a:t> </a:t>
            </a:r>
            <a:r>
              <a:rPr dirty="0" sz="4400"/>
              <a:t>de</a:t>
            </a:r>
            <a:r>
              <a:rPr dirty="0" sz="4400" spc="-260"/>
              <a:t> </a:t>
            </a:r>
            <a:r>
              <a:rPr dirty="0" sz="4400" spc="-185"/>
              <a:t>processus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09039" y="2869692"/>
            <a:ext cx="1754505" cy="30988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65"/>
              </a:lnSpc>
            </a:pPr>
            <a:r>
              <a:rPr dirty="0" sz="2200" spc="-10" i="1">
                <a:solidFill>
                  <a:srgbClr val="2D2D2C"/>
                </a:solidFill>
                <a:latin typeface="Times New Roman"/>
                <a:cs typeface="Times New Roman"/>
              </a:rPr>
              <a:t>Implémentation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1196441" y="3433953"/>
            <a:ext cx="101809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correspond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production</a:t>
            </a:r>
            <a:r>
              <a:rPr dirty="0" sz="1800" spc="-2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du</a:t>
            </a:r>
            <a:r>
              <a:rPr dirty="0" sz="1800" spc="-35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D2D2C"/>
                </a:solidFill>
                <a:latin typeface="Times New Roman"/>
                <a:cs typeface="Times New Roman"/>
              </a:rPr>
              <a:t>logiciel</a:t>
            </a:r>
            <a:r>
              <a:rPr dirty="0" sz="1800" spc="-40" b="1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sous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forme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composants,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bibliothèques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ou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fichiers.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Cette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reste,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comme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toutes</a:t>
            </a:r>
            <a:r>
              <a:rPr dirty="0" sz="1800" spc="-4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autres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méthodes,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plus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lourde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charge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par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rapport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à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l’ensemble</a:t>
            </a:r>
            <a:r>
              <a:rPr dirty="0" sz="1800" spc="500">
                <a:solidFill>
                  <a:srgbClr val="2D2D2C"/>
                </a:solidFill>
                <a:latin typeface="Times New Roman"/>
                <a:cs typeface="Times New Roman"/>
              </a:rPr>
              <a:t> 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autres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phases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(au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moins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40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%).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4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60"/>
              <a:t>Activités</a:t>
            </a:r>
            <a:r>
              <a:rPr dirty="0" sz="4400" spc="-250"/>
              <a:t> </a:t>
            </a:r>
            <a:r>
              <a:rPr dirty="0" sz="4400"/>
              <a:t>de</a:t>
            </a:r>
            <a:r>
              <a:rPr dirty="0" sz="4400" spc="-260"/>
              <a:t> </a:t>
            </a:r>
            <a:r>
              <a:rPr dirty="0" sz="4400" spc="-185"/>
              <a:t>processus</a:t>
            </a:r>
            <a:endParaRPr sz="44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59839" y="2872562"/>
            <a:ext cx="3568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  <p:sp>
        <p:nvSpPr>
          <p:cNvPr id="8" name="object 8" descr=""/>
          <p:cNvSpPr txBox="1"/>
          <p:nvPr/>
        </p:nvSpPr>
        <p:spPr>
          <a:xfrm>
            <a:off x="1654936" y="2869692"/>
            <a:ext cx="538480" cy="30988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65"/>
              </a:lnSpc>
            </a:pPr>
            <a:r>
              <a:rPr dirty="0" sz="2200" spc="-10" b="1">
                <a:solidFill>
                  <a:srgbClr val="2D2D2C"/>
                </a:solidFill>
                <a:latin typeface="Times New Roman"/>
                <a:cs typeface="Times New Roman"/>
              </a:rPr>
              <a:t>tests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21483" y="2872562"/>
            <a:ext cx="21291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permettent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vérifier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59839" y="3159633"/>
            <a:ext cx="73996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Char char="•"/>
              <a:tabLst>
                <a:tab pos="14922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bonne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implémentation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toutes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exigences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(fonctionnelles</a:t>
            </a:r>
            <a:r>
              <a:rPr dirty="0" sz="1800" spc="-6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et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techniques),</a:t>
            </a:r>
            <a:endParaRPr sz="180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buChar char="•"/>
              <a:tabLst>
                <a:tab pos="14922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fonctionnement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correct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des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interactions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entre</a:t>
            </a:r>
            <a:r>
              <a:rPr dirty="0" sz="1800" spc="-5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objets,</a:t>
            </a:r>
            <a:endParaRPr sz="180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buChar char="•"/>
              <a:tabLst>
                <a:tab pos="149225" algn="l"/>
              </a:tabLst>
            </a:pP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la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bonne</a:t>
            </a:r>
            <a:r>
              <a:rPr dirty="0" sz="1800" spc="-2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intégration</a:t>
            </a:r>
            <a:r>
              <a:rPr dirty="0" sz="1800" spc="-5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tous</a:t>
            </a:r>
            <a:r>
              <a:rPr dirty="0" sz="1800" spc="-3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les</a:t>
            </a:r>
            <a:r>
              <a:rPr dirty="0" sz="1800" spc="-3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composants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dans</a:t>
            </a:r>
            <a:r>
              <a:rPr dirty="0" sz="1800" spc="-40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2D2D2C"/>
                </a:solidFill>
                <a:latin typeface="Times New Roman"/>
                <a:cs typeface="Times New Roman"/>
              </a:rPr>
              <a:t>le</a:t>
            </a:r>
            <a:r>
              <a:rPr dirty="0" sz="1800" spc="-25">
                <a:solidFill>
                  <a:srgbClr val="2D2D2C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2D2D2C"/>
                </a:solidFill>
                <a:latin typeface="Times New Roman"/>
                <a:cs typeface="Times New Roman"/>
              </a:rPr>
              <a:t>logiciel.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38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4</a:t>
            </a:r>
            <a:r>
              <a:rPr dirty="0" spc="-114"/>
              <a:t> </a:t>
            </a:r>
            <a:r>
              <a:rPr dirty="0"/>
              <a:t>P</a:t>
            </a:r>
            <a:r>
              <a:rPr dirty="0" spc="-114"/>
              <a:t> </a:t>
            </a:r>
            <a:r>
              <a:rPr dirty="0" spc="-60"/>
              <a:t>du</a:t>
            </a:r>
            <a:r>
              <a:rPr dirty="0" spc="-95"/>
              <a:t> </a:t>
            </a:r>
            <a:r>
              <a:rPr dirty="0" spc="-65"/>
              <a:t>développement</a:t>
            </a:r>
            <a:r>
              <a:rPr dirty="0" spc="-100"/>
              <a:t> </a:t>
            </a:r>
            <a:r>
              <a:rPr dirty="0" spc="-10"/>
              <a:t>logiciel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33" y="3900170"/>
            <a:ext cx="2958465" cy="2959735"/>
            <a:chOff x="833" y="3900170"/>
            <a:chExt cx="2958465" cy="2959735"/>
          </a:xfrm>
        </p:grpSpPr>
        <p:sp>
          <p:nvSpPr>
            <p:cNvPr id="4" name="object 4" descr=""/>
            <p:cNvSpPr/>
            <p:nvPr/>
          </p:nvSpPr>
          <p:spPr>
            <a:xfrm>
              <a:off x="970851" y="5368036"/>
              <a:ext cx="1988820" cy="1491615"/>
            </a:xfrm>
            <a:custGeom>
              <a:avLst/>
              <a:gdLst/>
              <a:ahLst/>
              <a:cxnLst/>
              <a:rect l="l" t="t" r="r" b="b"/>
              <a:pathLst>
                <a:path w="1988820" h="1491615">
                  <a:moveTo>
                    <a:pt x="497522" y="0"/>
                  </a:moveTo>
                  <a:lnTo>
                    <a:pt x="0" y="497687"/>
                  </a:lnTo>
                  <a:lnTo>
                    <a:pt x="993330" y="1491321"/>
                  </a:lnTo>
                  <a:lnTo>
                    <a:pt x="1988375" y="1491321"/>
                  </a:lnTo>
                  <a:lnTo>
                    <a:pt x="497522" y="0"/>
                  </a:lnTo>
                  <a:close/>
                </a:path>
              </a:pathLst>
            </a:custGeom>
            <a:solidFill>
              <a:srgbClr val="F8D3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3" y="5891568"/>
              <a:ext cx="967740" cy="968375"/>
            </a:xfrm>
            <a:custGeom>
              <a:avLst/>
              <a:gdLst/>
              <a:ahLst/>
              <a:cxnLst/>
              <a:rect l="l" t="t" r="r" b="b"/>
              <a:pathLst>
                <a:path w="967740" h="968375">
                  <a:moveTo>
                    <a:pt x="0" y="0"/>
                  </a:moveTo>
                  <a:lnTo>
                    <a:pt x="0" y="967789"/>
                  </a:lnTo>
                  <a:lnTo>
                    <a:pt x="967515" y="967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33" y="3900170"/>
              <a:ext cx="970280" cy="1941830"/>
            </a:xfrm>
            <a:custGeom>
              <a:avLst/>
              <a:gdLst/>
              <a:ahLst/>
              <a:cxnLst/>
              <a:rect l="l" t="t" r="r" b="b"/>
              <a:pathLst>
                <a:path w="970280" h="1941829">
                  <a:moveTo>
                    <a:pt x="0" y="0"/>
                  </a:moveTo>
                  <a:lnTo>
                    <a:pt x="0" y="1941385"/>
                  </a:lnTo>
                  <a:lnTo>
                    <a:pt x="970018" y="97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94A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92097" y="4189602"/>
            <a:ext cx="9180195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Personnes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architectes,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développeurs,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testeurs,</a:t>
            </a:r>
            <a:r>
              <a:rPr dirty="0" sz="2000" spc="4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direction,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utilisateurs,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clients.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Projet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élément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d’organisation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à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travers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lequel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est</a:t>
            </a:r>
            <a:r>
              <a:rPr dirty="0" sz="2000" spc="4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géré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développement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logiciel.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197475" algn="l"/>
              </a:tabLst>
            </a:pPr>
            <a:r>
              <a:rPr dirty="0" sz="2000" b="1">
                <a:latin typeface="Times New Roman"/>
                <a:cs typeface="Times New Roman"/>
              </a:rPr>
              <a:t>Produit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ensemble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artefacts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créés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cours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du</a:t>
            </a:r>
            <a:r>
              <a:rPr dirty="0" sz="2000">
                <a:latin typeface="Times New Roman"/>
                <a:cs typeface="Times New Roman"/>
              </a:rPr>
              <a:t>	cycle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 vie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</a:t>
            </a:r>
            <a:r>
              <a:rPr dirty="0" sz="2000" spc="-10">
                <a:latin typeface="Times New Roman"/>
                <a:cs typeface="Times New Roman"/>
              </a:rPr>
              <a:t> projet.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Times New Roman"/>
                <a:cs typeface="Times New Roman"/>
              </a:rPr>
              <a:t>Processus</a:t>
            </a:r>
            <a:r>
              <a:rPr dirty="0" sz="2000">
                <a:latin typeface="Times New Roman"/>
                <a:cs typeface="Times New Roman"/>
              </a:rPr>
              <a:t>: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offre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cadre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générique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à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création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projet.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8113" y="1861251"/>
            <a:ext cx="3796172" cy="1840210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25"/>
              <a:t>43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 RHOUMA LOBNA</dc:creator>
  <dcterms:created xsi:type="dcterms:W3CDTF">2026-02-22T23:52:39Z</dcterms:created>
  <dcterms:modified xsi:type="dcterms:W3CDTF">2026-02-22T23:52:39Z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2024-12-08T00:00:00Z</vt:filetime>
  </property>
  <property fmtid="{D5CDD505-2E9C-101B-9397-08002B2CF9AE}" pid="3" name="Creator">
    <vt:lpwstr>Microsoft® PowerPoint® pour Microsoft 365</vt:lpwstr>
  </property>
  <property fmtid="{D5CDD505-2E9C-101B-9397-08002B2CF9AE}" pid="4" name="LastSaved">
    <vt:filetime>2026-02-22T00:00:00Z</vt:filetime>
  </property>
  <property fmtid="{D5CDD505-2E9C-101B-9397-08002B2CF9AE}" pid="5" name="Producer">
    <vt:lpwstr>Microsoft® PowerPoint® pour Microsoft 365</vt:lpwstr>
  </property>
</Properties>
</file>